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a:t>
            </a:r>
            <a:r>
              <a:rPr lang="en-US" sz="4400" b="0" u="none" strike="noStrike">
                <a:solidFill>
                  <a:schemeClr val="dk1"/>
                </a:solidFill>
                <a:effectLst/>
                <a:uFillTx/>
                <a:latin typeface="Calibri"/>
              </a:rPr>
              <a:t>Master title </a:t>
            </a:r>
            <a:r>
              <a:rPr lang="en-US" sz="4400" b="0" u="none" strike="noStrike">
                <a:solidFill>
                  <a:schemeClr val="dk1"/>
                </a:solidFill>
                <a:effectLst/>
                <a:uFillTx/>
                <a:latin typeface="Calibri"/>
              </a:rPr>
              <a:t>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934063A-9E53-487E-95D6-F0FD7123610A}"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6AA79C1-E2D0-4E2E-BE21-02FCF8DDBCCC}"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a:t>
            </a:r>
            <a:r>
              <a:rPr lang="en-US" sz="4400" b="0" u="none" strike="noStrike">
                <a:solidFill>
                  <a:schemeClr val="dk1"/>
                </a:solidFill>
                <a:effectLst/>
                <a:uFillTx/>
                <a:latin typeface="Calibri"/>
              </a:rPr>
              <a:t>ck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a:t>
            </a:r>
            <a:r>
              <a:rPr lang="en-US" sz="4400" b="0" u="none" strike="noStrike">
                <a:solidFill>
                  <a:schemeClr val="dk1"/>
                </a:solidFill>
                <a:effectLst/>
                <a:uFillTx/>
                <a:latin typeface="Calibri"/>
              </a:rPr>
              <a:t>it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ast</a:t>
            </a:r>
            <a:r>
              <a:rPr lang="en-US" sz="4400" b="0" u="none" strike="noStrike">
                <a:solidFill>
                  <a:schemeClr val="dk1"/>
                </a:solidFill>
                <a:effectLst/>
                <a:uFillTx/>
                <a:latin typeface="Calibri"/>
              </a:rPr>
              <a:t>er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sty</a:t>
            </a:r>
            <a:r>
              <a:rPr lang="en-US" sz="4400" b="0" u="none" strike="noStrike">
                <a:solidFill>
                  <a:schemeClr val="dk1"/>
                </a:solidFill>
                <a:effectLst/>
                <a:uFillTx/>
                <a:latin typeface="Calibri"/>
              </a:rPr>
              <a:t>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00AB9CB-D8B5-483E-B997-7DB0B458349A}"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23436DE-5906-408A-AFF3-67C48457C551}"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C797BA4-A55C-42DA-BD87-0F2ECF909FC9}"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E3714E9-55EF-42DC-8707-3DD627E520C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203A20B-091D-4EEE-9C43-FF8E5EAB540F}"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803C193-C432-4086-8AC2-C0F88AA37894}"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346C679-B779-49DC-A9D0-6A2B1FB3F8B1}"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2BBE767-AD45-46FA-B38F-E247F349C61E}"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pic"/>
          </p:nvPr>
        </p:nvSpPr>
        <p:spPr>
          <a:xfrm>
            <a:off x="1792440" y="612720"/>
            <a:ext cx="5486040" cy="4114440"/>
          </a:xfrm>
          <a:prstGeom prst="rect">
            <a:avLst/>
          </a:prstGeom>
          <a:noFill/>
          <a:ln w="0">
            <a:noFill/>
          </a:ln>
        </p:spPr>
        <p:txBody>
          <a:bodyPr lIns="90000" tIns="45000" rIns="90000" bIns="45000" anchor="t">
            <a:noAutofit/>
          </a:bodyPr>
          <a:p>
            <a:pPr indent="0" algn="l">
              <a:buNone/>
            </a:pPr>
            <a:r>
              <a:rPr lang="en-IN" sz="3200" b="0" u="none" strike="noStrike">
                <a:solidFill>
                  <a:srgbClr val="000000"/>
                </a:solidFill>
                <a:effectLst/>
                <a:uFillTx/>
                <a:latin typeface="Arial"/>
              </a:rPr>
              <a:t>Double-click to add an Image</a:t>
            </a:r>
            <a:endParaRPr lang="en-IN" sz="3200" b="0" u="none" strike="noStrike">
              <a:solidFill>
                <a:srgbClr val="000000"/>
              </a:solidFill>
              <a:effectLst/>
              <a:uFillTx/>
              <a:latin typeface="Arial"/>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F713B6C-FBC9-4969-8954-3CF618FD2BAB}"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Rectangle 1"/>
          <p:cNvSpPr/>
          <p:nvPr/>
        </p:nvSpPr>
        <p:spPr>
          <a:xfrm>
            <a:off x="0" y="0"/>
            <a:ext cx="12191400" cy="5436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pPr/>
            <a:endParaRPr lang="en-US" sz="1800" b="0" u="none" strike="noStrike">
              <a:solidFill>
                <a:schemeClr val="lt1"/>
              </a:solidFill>
              <a:effectLst/>
              <a:uFillTx/>
              <a:latin typeface="Calibri"/>
            </a:endParaRPr>
          </a:p>
        </p:txBody>
      </p:sp>
      <p:sp>
        <p:nvSpPr>
          <p:cNvPr id="62" name="TextBox 2"/>
          <p:cNvSpPr/>
          <p:nvPr/>
        </p:nvSpPr>
        <p:spPr>
          <a:xfrm>
            <a:off x="4021920" y="1574640"/>
            <a:ext cx="4117320" cy="1971000"/>
          </a:xfrm>
          <a:prstGeom prst="rect">
            <a:avLst/>
          </a:prstGeom>
          <a:noFill/>
          <a:ln w="0">
            <a:noFill/>
          </a:ln>
        </p:spPr>
        <p:style>
          <a:lnRef idx="0"/>
          <a:fillRef idx="0"/>
          <a:effectRef idx="0"/>
          <a:fontRef idx="minor"/>
        </p:style>
        <p:txBody>
          <a:bodyPr wrap="none" lIns="90000" tIns="45000" rIns="90000" bIns="45000" anchor="ctr">
            <a:spAutoFit/>
          </a:bodyPr>
          <a:p>
            <a:pPr algn="ctr" defTabSz="457200">
              <a:lnSpc>
                <a:spcPct val="100000"/>
              </a:lnSpc>
            </a:pPr>
            <a:r>
              <a:rPr lang="en-US" sz="2800" b="1" u="none" strike="noStrike">
                <a:solidFill>
                  <a:srgbClr val="143769"/>
                </a:solidFill>
                <a:effectLst/>
                <a:uFillTx/>
                <a:latin typeface="Calibri"/>
              </a:rPr>
              <a:t>PROJECT-BASED LEARNING</a:t>
            </a:r>
            <a:endParaRPr lang="en-IN" sz="2800" b="0" u="none" strike="noStrike">
              <a:solidFill>
                <a:srgbClr val="000000"/>
              </a:solidFill>
              <a:effectLst/>
              <a:uFillTx/>
              <a:latin typeface="Arial"/>
            </a:endParaRPr>
          </a:p>
          <a:p>
            <a:pPr algn="ctr" defTabSz="457200">
              <a:lnSpc>
                <a:spcPct val="100000"/>
              </a:lnSpc>
              <a:spcBef>
                <a:spcPts val="1001"/>
              </a:spcBef>
            </a:pPr>
            <a:r>
              <a:rPr lang="en-US" sz="2000" b="0" u="none" strike="noStrike">
                <a:solidFill>
                  <a:schemeClr val="dk1"/>
                </a:solidFill>
                <a:effectLst/>
                <a:uFillTx/>
                <a:latin typeface="Calibri"/>
              </a:rPr>
              <a:t>PHASE-II EVALUATION</a:t>
            </a:r>
            <a:endParaRPr lang="en-IN" sz="2000" b="0" u="none" strike="noStrike">
              <a:solidFill>
                <a:srgbClr val="000000"/>
              </a:solidFill>
              <a:effectLst/>
              <a:uFillTx/>
              <a:latin typeface="Arial"/>
            </a:endParaRPr>
          </a:p>
          <a:p>
            <a:pPr algn="ctr" defTabSz="457200">
              <a:lnSpc>
                <a:spcPct val="100000"/>
              </a:lnSpc>
              <a:spcBef>
                <a:spcPts val="1800"/>
              </a:spcBef>
            </a:pPr>
            <a:r>
              <a:rPr lang="en-US" sz="2400" b="1" u="none" strike="noStrike">
                <a:solidFill>
                  <a:srgbClr val="5A5A5A"/>
                </a:solidFill>
                <a:effectLst/>
                <a:uFillTx/>
                <a:latin typeface="Calibri"/>
              </a:rPr>
              <a:t>RECLAIMX</a:t>
            </a:r>
            <a:endParaRPr lang="en-IN" sz="2400" b="0" u="none" strike="noStrike">
              <a:solidFill>
                <a:srgbClr val="000000"/>
              </a:solidFill>
              <a:effectLst/>
              <a:uFillTx/>
              <a:latin typeface="Arial"/>
            </a:endParaRPr>
          </a:p>
          <a:p>
            <a:pPr algn="ctr" defTabSz="457200">
              <a:lnSpc>
                <a:spcPct val="100000"/>
              </a:lnSpc>
            </a:pPr>
            <a:r>
              <a:rPr lang="en-US" sz="1500" b="0" u="none" strike="noStrike">
                <a:solidFill>
                  <a:srgbClr val="5A5A5A"/>
                </a:solidFill>
                <a:effectLst/>
                <a:uFillTx/>
                <a:latin typeface="Calibri"/>
              </a:rPr>
              <a:t>Campus Lost &amp; Found Management System</a:t>
            </a:r>
            <a:endParaRPr lang="en-IN" sz="1500" b="0" u="none" strike="noStrike">
              <a:solidFill>
                <a:srgbClr val="000000"/>
              </a:solidFill>
              <a:effectLst/>
              <a:uFillTx/>
              <a:latin typeface="Arial"/>
            </a:endParaRPr>
          </a:p>
          <a:p>
            <a:pPr algn="ctr" defTabSz="457200">
              <a:lnSpc>
                <a:spcPct val="100000"/>
              </a:lnSpc>
            </a:pPr>
            <a:r>
              <a:rPr lang="en-US" sz="1300" b="1" u="none" strike="noStrike">
                <a:solidFill>
                  <a:srgbClr val="143769"/>
                </a:solidFill>
                <a:effectLst/>
                <a:uFillTx/>
                <a:latin typeface="Calibri"/>
              </a:rPr>
              <a:t>Team ID: IJP-V-2026-T003</a:t>
            </a:r>
            <a:endParaRPr lang="en-IN" sz="1300" b="0" u="none" strike="noStrike">
              <a:solidFill>
                <a:srgbClr val="000000"/>
              </a:solidFill>
              <a:effectLst/>
              <a:uFillTx/>
              <a:latin typeface="Arial"/>
            </a:endParaRPr>
          </a:p>
        </p:txBody>
      </p:sp>
      <p:sp>
        <p:nvSpPr>
          <p:cNvPr id="63" name="TextBox 3"/>
          <p:cNvSpPr/>
          <p:nvPr/>
        </p:nvSpPr>
        <p:spPr>
          <a:xfrm>
            <a:off x="4554360" y="5806440"/>
            <a:ext cx="3052080" cy="563400"/>
          </a:xfrm>
          <a:prstGeom prst="rect">
            <a:avLst/>
          </a:prstGeom>
          <a:noFill/>
          <a:ln w="0">
            <a:noFill/>
          </a:ln>
        </p:spPr>
        <p:style>
          <a:lnRef idx="0"/>
          <a:fillRef idx="0"/>
          <a:effectRef idx="0"/>
          <a:fontRef idx="minor"/>
        </p:style>
        <p:txBody>
          <a:bodyPr wrap="none" lIns="90000" tIns="45000" rIns="90000" bIns="45000" anchor="t">
            <a:spAutoFit/>
          </a:bodyPr>
          <a:p>
            <a:pPr algn="ctr" defTabSz="457200">
              <a:lnSpc>
                <a:spcPct val="100000"/>
              </a:lnSpc>
            </a:pPr>
            <a:r>
              <a:rPr lang="en-US" sz="1100" b="1" u="none" strike="noStrike">
                <a:solidFill>
                  <a:schemeClr val="dk1"/>
                </a:solidFill>
                <a:effectLst/>
                <a:uFillTx/>
                <a:latin typeface="Calibri"/>
              </a:rPr>
              <a:t>Department of Computer Application</a:t>
            </a:r>
            <a:br>
              <a:rPr sz="1100"/>
            </a:br>
            <a:r>
              <a:rPr lang="en-US" sz="1100" b="1" u="none" strike="noStrike">
                <a:solidFill>
                  <a:schemeClr val="dk1"/>
                </a:solidFill>
                <a:effectLst/>
                <a:uFillTx/>
                <a:latin typeface="Calibri"/>
              </a:rPr>
              <a:t>Graphic Era (Deemed to be University), </a:t>
            </a:r>
            <a:r>
              <a:rPr lang="en-US" sz="1100" b="1" u="none" strike="noStrike">
                <a:solidFill>
                  <a:schemeClr val="dk1"/>
                </a:solidFill>
                <a:effectLst/>
                <a:uFillTx/>
                <a:latin typeface="Calibri"/>
              </a:rPr>
              <a:t>Dehradun</a:t>
            </a:r>
            <a:endParaRPr lang="en-IN" sz="1100" b="0" u="none" strike="noStrike">
              <a:solidFill>
                <a:srgbClr val="000000"/>
              </a:solidFill>
              <a:effectLst/>
              <a:uFillTx/>
              <a:latin typeface="Arial"/>
            </a:endParaRPr>
          </a:p>
          <a:p>
            <a:pPr algn="ctr" defTabSz="457200">
              <a:lnSpc>
                <a:spcPct val="100000"/>
              </a:lnSpc>
            </a:pPr>
            <a:r>
              <a:rPr lang="en-US" sz="900" b="0" u="none" strike="noStrike">
                <a:solidFill>
                  <a:srgbClr val="5A5A5A"/>
                </a:solidFill>
                <a:effectLst/>
                <a:uFillTx/>
                <a:latin typeface="Calibri"/>
              </a:rPr>
              <a:t>Academic Session 2026–27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TextBox 1"/>
          <p:cNvSpPr/>
          <p:nvPr/>
        </p:nvSpPr>
        <p:spPr>
          <a:xfrm>
            <a:off x="411480" y="228600"/>
            <a:ext cx="10789560" cy="411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500" b="1" u="none" strike="noStrike">
                <a:solidFill>
                  <a:srgbClr val="143769"/>
                </a:solidFill>
                <a:effectLst/>
                <a:uFillTx/>
                <a:latin typeface="Calibri"/>
              </a:rPr>
              <a:t>Team &amp; Mentor </a:t>
            </a:r>
            <a:r>
              <a:rPr lang="en-US" sz="2500" b="1" u="none" strike="noStrike">
                <a:solidFill>
                  <a:srgbClr val="143769"/>
                </a:solidFill>
                <a:effectLst/>
                <a:uFillTx/>
                <a:latin typeface="Calibri"/>
              </a:rPr>
              <a:t>Details</a:t>
            </a:r>
            <a:endParaRPr lang="en-IN" sz="2500" b="0" u="none" strike="noStrike">
              <a:solidFill>
                <a:srgbClr val="000000"/>
              </a:solidFill>
              <a:effectLst/>
              <a:uFillTx/>
              <a:latin typeface="Arial"/>
            </a:endParaRPr>
          </a:p>
        </p:txBody>
      </p:sp>
      <p:sp>
        <p:nvSpPr>
          <p:cNvPr id="65" name="Rectangle 2"/>
          <p:cNvSpPr/>
          <p:nvPr/>
        </p:nvSpPr>
        <p:spPr>
          <a:xfrm>
            <a:off x="411480" y="722520"/>
            <a:ext cx="11292480" cy="1800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US" sz="1800" b="0" u="none" strike="noStrike">
              <a:solidFill>
                <a:schemeClr val="lt1"/>
              </a:solidFill>
              <a:effectLst/>
              <a:uFillTx/>
              <a:latin typeface="Calibri"/>
            </a:endParaRPr>
          </a:p>
        </p:txBody>
      </p:sp>
      <p:sp>
        <p:nvSpPr>
          <p:cNvPr id="66" name="Rounded Rectangle 3"/>
          <p:cNvSpPr/>
          <p:nvPr/>
        </p:nvSpPr>
        <p:spPr>
          <a:xfrm>
            <a:off x="457200" y="960120"/>
            <a:ext cx="5440320" cy="141696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Team Information</a:t>
            </a:r>
            <a:endParaRPr lang="en-IN" sz="1300" b="0" u="none" strike="noStrike">
              <a:solidFill>
                <a:srgbClr val="000000"/>
              </a:solidFill>
              <a:effectLst/>
              <a:uFillTx/>
              <a:latin typeface="Arial"/>
            </a:endParaRPr>
          </a:p>
          <a:p>
            <a:pPr defTabSz="457200">
              <a:lnSpc>
                <a:spcPct val="100000"/>
              </a:lnSpc>
            </a:pPr>
            <a:r>
              <a:rPr lang="en-US" sz="1100" b="1" u="none" strike="noStrike">
                <a:solidFill>
                  <a:srgbClr val="000000"/>
                </a:solidFill>
                <a:effectLst/>
                <a:uFillTx/>
                <a:latin typeface="Calibri"/>
              </a:rPr>
              <a:t>Team ID: IJP-V-2026-T003</a:t>
            </a:r>
            <a:br>
              <a:rPr sz="1100"/>
            </a:br>
            <a:r>
              <a:rPr lang="en-US" sz="1100" b="1" u="none" strike="noStrike">
                <a:solidFill>
                  <a:srgbClr val="000000"/>
                </a:solidFill>
                <a:effectLst/>
                <a:uFillTx/>
                <a:latin typeface="Calibri"/>
              </a:rPr>
              <a:t>Semester: 5th</a:t>
            </a:r>
            <a:br>
              <a:rPr sz="1100"/>
            </a:br>
            <a:r>
              <a:rPr lang="en-US" sz="1100" b="1" u="none" strike="noStrike">
                <a:solidFill>
                  <a:srgbClr val="000000"/>
                </a:solidFill>
                <a:effectLst/>
                <a:uFillTx/>
                <a:latin typeface="Calibri"/>
              </a:rPr>
              <a:t>Section: C</a:t>
            </a:r>
            <a:br>
              <a:rPr sz="1100"/>
            </a:br>
            <a:r>
              <a:rPr lang="en-US" sz="1100" b="1" u="none" strike="noStrike">
                <a:solidFill>
                  <a:srgbClr val="000000"/>
                </a:solidFill>
                <a:effectLst/>
                <a:uFillTx/>
                <a:latin typeface="Calibri"/>
              </a:rPr>
              <a:t>Domain: Java Development</a:t>
            </a:r>
            <a:r>
              <a:rPr lang="en-US" sz="1100" b="0" u="none" strike="noStrike">
                <a:solidFill>
                  <a:srgbClr val="000000"/>
                </a:solidFill>
                <a:effectLst/>
                <a:uFillTx/>
                <a:latin typeface="Calibri"/>
              </a:rPr>
              <a:t> </a:t>
            </a:r>
            <a:endParaRPr lang="en-IN" sz="1100" b="0" u="none" strike="noStrike">
              <a:solidFill>
                <a:srgbClr val="000000"/>
              </a:solidFill>
              <a:effectLst/>
              <a:uFillTx/>
              <a:latin typeface="Arial"/>
            </a:endParaRPr>
          </a:p>
        </p:txBody>
      </p:sp>
      <p:sp>
        <p:nvSpPr>
          <p:cNvPr id="67" name="Rounded Rectangle 4"/>
          <p:cNvSpPr/>
          <p:nvPr/>
        </p:nvSpPr>
        <p:spPr>
          <a:xfrm>
            <a:off x="6126480" y="960120"/>
            <a:ext cx="5531760" cy="141696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Team Members</a:t>
            </a:r>
            <a:endParaRPr lang="en-IN" sz="1300" b="0" u="none" strike="noStrike">
              <a:solidFill>
                <a:srgbClr val="000000"/>
              </a:solidFill>
              <a:effectLst/>
              <a:uFillTx/>
              <a:latin typeface="Arial"/>
            </a:endParaRPr>
          </a:p>
          <a:p>
            <a:pPr defTabSz="457200">
              <a:lnSpc>
                <a:spcPct val="100000"/>
              </a:lnSpc>
            </a:pPr>
            <a:r>
              <a:rPr lang="en-US" sz="1100" b="1" u="none" strike="noStrike">
                <a:solidFill>
                  <a:srgbClr val="000000"/>
                </a:solidFill>
                <a:effectLst/>
                <a:uFillTx/>
                <a:latin typeface="Calibri"/>
              </a:rPr>
              <a:t>1. Ayush Dobhal — 24151104</a:t>
            </a:r>
            <a:br>
              <a:rPr sz="1100"/>
            </a:br>
            <a:r>
              <a:rPr lang="en-US" sz="1100" b="1" u="none" strike="noStrike">
                <a:solidFill>
                  <a:srgbClr val="000000"/>
                </a:solidFill>
                <a:effectLst/>
                <a:uFillTx/>
                <a:latin typeface="Calibri"/>
              </a:rPr>
              <a:t>2. Krish Rawat — 24151182</a:t>
            </a:r>
            <a:br>
              <a:rPr sz="1100"/>
            </a:br>
            <a:r>
              <a:rPr lang="en-US" sz="1100" b="1" u="none" strike="noStrike">
                <a:solidFill>
                  <a:srgbClr val="000000"/>
                </a:solidFill>
                <a:effectLst/>
                <a:uFillTx/>
                <a:latin typeface="Calibri"/>
              </a:rPr>
              <a:t>3. Divyansh Kharola — 24152165</a:t>
            </a:r>
            <a:br>
              <a:rPr sz="1100"/>
            </a:br>
            <a:r>
              <a:rPr lang="en-US" sz="1100" b="1" u="none" strike="noStrike">
                <a:solidFill>
                  <a:srgbClr val="000000"/>
                </a:solidFill>
                <a:effectLst/>
                <a:uFillTx/>
                <a:latin typeface="Calibri"/>
              </a:rPr>
              <a:t>4. Nitin Rawat — 24151342</a:t>
            </a:r>
            <a:endParaRPr lang="en-IN" sz="1100" b="0" u="none" strike="noStrike">
              <a:solidFill>
                <a:srgbClr val="000000"/>
              </a:solidFill>
              <a:effectLst/>
              <a:uFillTx/>
              <a:latin typeface="Arial"/>
            </a:endParaRPr>
          </a:p>
        </p:txBody>
      </p:sp>
      <p:sp>
        <p:nvSpPr>
          <p:cNvPr id="68" name="Rounded Rectangle 5"/>
          <p:cNvSpPr/>
          <p:nvPr/>
        </p:nvSpPr>
        <p:spPr>
          <a:xfrm>
            <a:off x="457200" y="2651760"/>
            <a:ext cx="11201040" cy="105120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200" b="1" u="none" strike="noStrike">
                <a:solidFill>
                  <a:srgbClr val="143769"/>
                </a:solidFill>
                <a:effectLst/>
                <a:uFillTx/>
                <a:latin typeface="Calibri"/>
              </a:rPr>
              <a:t>Contact Details</a:t>
            </a:r>
            <a:endParaRPr lang="en-IN" sz="1200" b="0" u="none" strike="noStrike">
              <a:solidFill>
                <a:srgbClr val="000000"/>
              </a:solidFill>
              <a:effectLst/>
              <a:uFillTx/>
              <a:latin typeface="Arial"/>
            </a:endParaRPr>
          </a:p>
          <a:p>
            <a:pPr defTabSz="457200">
              <a:lnSpc>
                <a:spcPct val="100000"/>
              </a:lnSpc>
            </a:pPr>
            <a:r>
              <a:rPr lang="en-US" sz="1000" b="1" u="none" strike="noStrike">
                <a:solidFill>
                  <a:srgbClr val="000000"/>
                </a:solidFill>
                <a:effectLst/>
                <a:uFillTx/>
                <a:latin typeface="Calibri"/>
              </a:rPr>
              <a:t>Ayush: ayushdobhal850@gmail.com | 7300732227                                                                                                                                                                         Krish: Pameshwarirawat2@gmail.com | 9528263440</a:t>
            </a:r>
            <a:br>
              <a:rPr sz="1000"/>
            </a:br>
            <a:r>
              <a:rPr lang="en-US" sz="1000" b="1" u="none" strike="noStrike">
                <a:solidFill>
                  <a:srgbClr val="000000"/>
                </a:solidFill>
                <a:effectLst/>
                <a:uFillTx/>
                <a:latin typeface="Calibri"/>
              </a:rPr>
              <a:t>Divyansh: divyanshkharola17@gmail.com | 6396105995                                                                                                                                                             Nitin: nitinrawat2906@gmail.com | 9520299323</a:t>
            </a:r>
            <a:endParaRPr lang="en-IN" sz="1000" b="0" u="none" strike="noStrike">
              <a:solidFill>
                <a:srgbClr val="000000"/>
              </a:solidFill>
              <a:effectLst/>
              <a:uFillTx/>
              <a:latin typeface="Arial"/>
            </a:endParaRPr>
          </a:p>
        </p:txBody>
      </p:sp>
      <p:sp>
        <p:nvSpPr>
          <p:cNvPr id="69" name="Rounded Rectangle 6"/>
          <p:cNvSpPr/>
          <p:nvPr/>
        </p:nvSpPr>
        <p:spPr>
          <a:xfrm>
            <a:off x="457200" y="3977640"/>
            <a:ext cx="11201040" cy="95976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Mentor</a:t>
            </a:r>
            <a:endParaRPr lang="en-IN" sz="1300" b="0" u="none" strike="noStrike">
              <a:solidFill>
                <a:srgbClr val="000000"/>
              </a:solidFill>
              <a:effectLst/>
              <a:uFillTx/>
              <a:latin typeface="Arial"/>
            </a:endParaRPr>
          </a:p>
          <a:p>
            <a:pPr algn="ctr" defTabSz="457200">
              <a:lnSpc>
                <a:spcPct val="100000"/>
              </a:lnSpc>
            </a:pPr>
            <a:r>
              <a:rPr lang="en-US" sz="1100" b="1" u="none" strike="noStrike">
                <a:solidFill>
                  <a:srgbClr val="000000"/>
                </a:solidFill>
                <a:effectLst/>
                <a:uFillTx/>
                <a:latin typeface="Calibri"/>
              </a:rPr>
              <a:t>Dr. Aditya Joshi                                      </a:t>
            </a:r>
            <a:endParaRPr lang="en-IN" sz="1100" b="0" u="none" strike="noStrike">
              <a:solidFill>
                <a:srgbClr val="000000"/>
              </a:solidFill>
              <a:effectLst/>
              <a:uFillTx/>
              <a:latin typeface="Arial"/>
            </a:endParaRPr>
          </a:p>
        </p:txBody>
      </p:sp>
      <p:sp>
        <p:nvSpPr>
          <p:cNvPr id="70" name="TextBox 7"/>
          <p:cNvSpPr/>
          <p:nvPr/>
        </p:nvSpPr>
        <p:spPr>
          <a:xfrm>
            <a:off x="320040" y="6510600"/>
            <a:ext cx="2993040" cy="1969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700" b="0" u="none" strike="noStrike">
                <a:solidFill>
                  <a:srgbClr val="5A5A5A"/>
                </a:solidFill>
                <a:effectLst/>
                <a:uFillTx/>
                <a:latin typeface="Calibri"/>
                <a:ea typeface="Microsoft YaHei"/>
              </a:rPr>
              <a:t>Department of </a:t>
            </a:r>
            <a:r>
              <a:rPr lang="en-US" sz="700" b="0" u="none" strike="noStrike">
                <a:solidFill>
                  <a:srgbClr val="5A5A5A"/>
                </a:solidFill>
                <a:effectLst/>
                <a:uFillTx/>
                <a:latin typeface="Calibri"/>
              </a:rPr>
              <a:t> Computer Application | Graphic Era (Deemed to be University)</a:t>
            </a:r>
            <a:endParaRPr lang="en-IN" sz="700" b="0" u="none" strike="noStrike">
              <a:solidFill>
                <a:srgbClr val="000000"/>
              </a:solidFill>
              <a:effectLst/>
              <a:uFillTx/>
              <a:latin typeface="Arial"/>
            </a:endParaRPr>
          </a:p>
        </p:txBody>
      </p:sp>
      <p:sp>
        <p:nvSpPr>
          <p:cNvPr id="71" name="TextBox 8"/>
          <p:cNvSpPr/>
          <p:nvPr/>
        </p:nvSpPr>
        <p:spPr>
          <a:xfrm>
            <a:off x="10652760" y="6510600"/>
            <a:ext cx="1096920" cy="20088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700" b="0" u="none" strike="noStrike">
                <a:solidFill>
                  <a:srgbClr val="5A5A5A"/>
                </a:solidFill>
                <a:effectLst/>
                <a:uFillTx/>
                <a:latin typeface="Calibri"/>
              </a:rPr>
              <a:t>2/10</a:t>
            </a:r>
            <a:endParaRPr lang="en-IN"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TextBox 1"/>
          <p:cNvSpPr/>
          <p:nvPr/>
        </p:nvSpPr>
        <p:spPr>
          <a:xfrm>
            <a:off x="411480" y="228600"/>
            <a:ext cx="10789560" cy="411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500" b="1" u="none" strike="noStrike">
                <a:solidFill>
                  <a:srgbClr val="143769"/>
                </a:solidFill>
                <a:effectLst/>
                <a:uFillTx/>
                <a:latin typeface="Calibri"/>
              </a:rPr>
              <a:t>Problem Statement &amp; Motivation</a:t>
            </a:r>
            <a:endParaRPr lang="en-IN" sz="2500" b="0" u="none" strike="noStrike">
              <a:solidFill>
                <a:srgbClr val="000000"/>
              </a:solidFill>
              <a:effectLst/>
              <a:uFillTx/>
              <a:latin typeface="Arial"/>
            </a:endParaRPr>
          </a:p>
        </p:txBody>
      </p:sp>
      <p:sp>
        <p:nvSpPr>
          <p:cNvPr id="73" name="Rectangle 2"/>
          <p:cNvSpPr/>
          <p:nvPr/>
        </p:nvSpPr>
        <p:spPr>
          <a:xfrm>
            <a:off x="411480" y="722520"/>
            <a:ext cx="11292480" cy="1800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US" sz="1800" b="0" u="none" strike="noStrike">
              <a:solidFill>
                <a:schemeClr val="lt1"/>
              </a:solidFill>
              <a:effectLst/>
              <a:uFillTx/>
              <a:latin typeface="Calibri"/>
            </a:endParaRPr>
          </a:p>
        </p:txBody>
      </p:sp>
      <p:sp>
        <p:nvSpPr>
          <p:cNvPr id="74" name="Rounded Rectangle 3"/>
          <p:cNvSpPr/>
          <p:nvPr/>
        </p:nvSpPr>
        <p:spPr>
          <a:xfrm>
            <a:off x="457200" y="914400"/>
            <a:ext cx="11201040" cy="132552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Problem Statement</a:t>
            </a:r>
            <a:endParaRPr lang="en-IN" sz="13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Calibri"/>
              </a:rPr>
              <a:t>College Lost &amp; Found information is usually scattered across whatsapp/classgroups, notice boards, security desks, and word of mouth. This makes older reports difficult to find and gives students and administrators no single place to track items, claims, notifications, and item status.</a:t>
            </a:r>
            <a:endParaRPr lang="en-IN" sz="1100" b="0" u="none" strike="noStrike">
              <a:solidFill>
                <a:srgbClr val="000000"/>
              </a:solidFill>
              <a:effectLst/>
              <a:uFillTx/>
              <a:latin typeface="Arial"/>
            </a:endParaRPr>
          </a:p>
        </p:txBody>
      </p:sp>
      <p:sp>
        <p:nvSpPr>
          <p:cNvPr id="75" name="TextBox 4"/>
          <p:cNvSpPr/>
          <p:nvPr/>
        </p:nvSpPr>
        <p:spPr>
          <a:xfrm>
            <a:off x="502920" y="2514600"/>
            <a:ext cx="5211720" cy="3196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1" u="none" strike="noStrike">
                <a:solidFill>
                  <a:srgbClr val="143769"/>
                </a:solidFill>
                <a:effectLst/>
                <a:uFillTx/>
                <a:latin typeface="Calibri"/>
              </a:rPr>
              <a:t>Motivation</a:t>
            </a:r>
            <a:endParaRPr lang="en-IN" sz="1600" b="0" u="none" strike="noStrike">
              <a:solidFill>
                <a:srgbClr val="000000"/>
              </a:solidFill>
              <a:effectLst/>
              <a:uFillTx/>
              <a:latin typeface="Arial"/>
            </a:endParaRPr>
          </a:p>
        </p:txBody>
      </p:sp>
      <p:sp>
        <p:nvSpPr>
          <p:cNvPr id="76" name="TextBox 5"/>
          <p:cNvSpPr/>
          <p:nvPr/>
        </p:nvSpPr>
        <p:spPr>
          <a:xfrm>
            <a:off x="502920" y="2880360"/>
            <a:ext cx="5211720" cy="101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99"/>
              </a:spcAft>
            </a:pPr>
            <a:r>
              <a:rPr lang="en-US" sz="1200" b="0" u="none" strike="noStrike">
                <a:solidFill>
                  <a:srgbClr val="000000"/>
                </a:solidFill>
                <a:effectLst/>
                <a:uFillTx/>
                <a:latin typeface="Calibri"/>
              </a:rPr>
              <a:t>• Provide one common place for lost and found reports.</a:t>
            </a:r>
            <a:endParaRPr lang="en-IN" sz="1200" b="0" u="none" strike="noStrike">
              <a:solidFill>
                <a:srgbClr val="000000"/>
              </a:solidFill>
              <a:effectLst/>
              <a:uFillTx/>
              <a:latin typeface="Arial"/>
            </a:endParaRPr>
          </a:p>
          <a:p>
            <a:pPr defTabSz="457200">
              <a:lnSpc>
                <a:spcPct val="100000"/>
              </a:lnSpc>
              <a:spcAft>
                <a:spcPts val="499"/>
              </a:spcAft>
            </a:pPr>
            <a:r>
              <a:rPr lang="en-US" sz="1200" b="0" u="none" strike="noStrike">
                <a:solidFill>
                  <a:srgbClr val="000000"/>
                </a:solidFill>
                <a:effectLst/>
                <a:uFillTx/>
                <a:latin typeface="Calibri"/>
              </a:rPr>
              <a:t>• Keep item information stored.</a:t>
            </a:r>
            <a:endParaRPr lang="en-IN" sz="1200" b="0" u="none" strike="noStrike">
              <a:solidFill>
                <a:srgbClr val="000000"/>
              </a:solidFill>
              <a:effectLst/>
              <a:uFillTx/>
              <a:latin typeface="Arial"/>
            </a:endParaRPr>
          </a:p>
          <a:p>
            <a:pPr defTabSz="457200">
              <a:lnSpc>
                <a:spcPct val="100000"/>
              </a:lnSpc>
              <a:spcAft>
                <a:spcPts val="499"/>
              </a:spcAft>
            </a:pPr>
            <a:r>
              <a:rPr lang="en-US" sz="1200" b="0" u="none" strike="noStrike">
                <a:solidFill>
                  <a:srgbClr val="000000"/>
                </a:solidFill>
                <a:effectLst/>
                <a:uFillTx/>
                <a:latin typeface="Calibri"/>
              </a:rPr>
              <a:t>• Make browsing, filtering, claims, and status tracking easier.</a:t>
            </a:r>
            <a:endParaRPr lang="en-IN" sz="1200" b="0" u="none" strike="noStrike">
              <a:solidFill>
                <a:srgbClr val="000000"/>
              </a:solidFill>
              <a:effectLst/>
              <a:uFillTx/>
              <a:latin typeface="Arial"/>
            </a:endParaRPr>
          </a:p>
          <a:p>
            <a:pPr defTabSz="457200">
              <a:lnSpc>
                <a:spcPct val="100000"/>
              </a:lnSpc>
              <a:spcAft>
                <a:spcPts val="499"/>
              </a:spcAft>
            </a:pPr>
            <a:r>
              <a:rPr lang="en-US" sz="1200" b="0" u="none" strike="noStrike">
                <a:solidFill>
                  <a:srgbClr val="000000"/>
                </a:solidFill>
                <a:effectLst/>
                <a:uFillTx/>
                <a:latin typeface="Calibri"/>
              </a:rPr>
              <a:t>• Reduce the effort required to manage Lost &amp; Found activities.</a:t>
            </a:r>
            <a:endParaRPr lang="en-IN" sz="1200" b="0" u="none" strike="noStrike">
              <a:solidFill>
                <a:srgbClr val="000000"/>
              </a:solidFill>
              <a:effectLst/>
              <a:uFillTx/>
              <a:latin typeface="Arial"/>
            </a:endParaRPr>
          </a:p>
        </p:txBody>
      </p:sp>
      <p:sp>
        <p:nvSpPr>
          <p:cNvPr id="77" name="TextBox 6"/>
          <p:cNvSpPr/>
          <p:nvPr/>
        </p:nvSpPr>
        <p:spPr>
          <a:xfrm>
            <a:off x="6172200" y="2514600"/>
            <a:ext cx="5211720" cy="3196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1" u="none" strike="noStrike">
                <a:solidFill>
                  <a:srgbClr val="143769"/>
                </a:solidFill>
                <a:effectLst/>
                <a:uFillTx/>
                <a:latin typeface="Calibri"/>
              </a:rPr>
              <a:t>Target Users / Stakeholders</a:t>
            </a:r>
            <a:endParaRPr lang="en-IN" sz="1600" b="0" u="none" strike="noStrike">
              <a:solidFill>
                <a:srgbClr val="000000"/>
              </a:solidFill>
              <a:effectLst/>
              <a:uFillTx/>
              <a:latin typeface="Arial"/>
            </a:endParaRPr>
          </a:p>
        </p:txBody>
      </p:sp>
      <p:sp>
        <p:nvSpPr>
          <p:cNvPr id="78" name="TextBox 7"/>
          <p:cNvSpPr/>
          <p:nvPr/>
        </p:nvSpPr>
        <p:spPr>
          <a:xfrm>
            <a:off x="6172200" y="2880360"/>
            <a:ext cx="5211720" cy="22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99"/>
              </a:spcAft>
            </a:pPr>
            <a:r>
              <a:rPr lang="en-US" sz="1200" b="0" u="none" strike="noStrike">
                <a:solidFill>
                  <a:srgbClr val="000000"/>
                </a:solidFill>
                <a:effectLst/>
                <a:uFillTx/>
                <a:latin typeface="Calibri"/>
              </a:rPr>
              <a:t>• College students who lose or find belongings.</a:t>
            </a:r>
            <a:endParaRPr lang="en-IN" sz="1200" b="0" u="none" strike="noStrike">
              <a:solidFill>
                <a:srgbClr val="000000"/>
              </a:solidFill>
              <a:effectLst/>
              <a:uFillTx/>
              <a:latin typeface="Arial"/>
            </a:endParaRPr>
          </a:p>
          <a:p>
            <a:pPr defTabSz="457200">
              <a:lnSpc>
                <a:spcPct val="100000"/>
              </a:lnSpc>
              <a:spcAft>
                <a:spcPts val="499"/>
              </a:spcAft>
            </a:pPr>
            <a:r>
              <a:rPr lang="en-US" sz="1200" b="0" u="none" strike="noStrike">
                <a:solidFill>
                  <a:srgbClr val="000000"/>
                </a:solidFill>
                <a:effectLst/>
                <a:uFillTx/>
                <a:latin typeface="Calibri"/>
              </a:rPr>
              <a:t>• Administrators responsible for reviewing reports and claims.</a:t>
            </a:r>
            <a:endParaRPr lang="en-IN" sz="1200" b="0" u="none" strike="noStrike">
              <a:solidFill>
                <a:srgbClr val="000000"/>
              </a:solidFill>
              <a:effectLst/>
              <a:uFillTx/>
              <a:latin typeface="Arial"/>
            </a:endParaRPr>
          </a:p>
          <a:p>
            <a:pPr defTabSz="457200">
              <a:lnSpc>
                <a:spcPct val="100000"/>
              </a:lnSpc>
              <a:spcAft>
                <a:spcPts val="499"/>
              </a:spcAft>
            </a:pPr>
            <a:r>
              <a:rPr lang="en-US" sz="1200" b="0" u="none" strike="noStrike">
                <a:solidFill>
                  <a:srgbClr val="000000"/>
                </a:solidFill>
                <a:effectLst/>
                <a:uFillTx/>
                <a:latin typeface="Calibri"/>
              </a:rPr>
              <a:t>• College staff or security personnel involved in Lost &amp; Found handling.</a:t>
            </a:r>
            <a:endParaRPr lang="en-IN" sz="1200" b="0" u="none" strike="noStrike">
              <a:solidFill>
                <a:srgbClr val="000000"/>
              </a:solidFill>
              <a:effectLst/>
              <a:uFillTx/>
              <a:latin typeface="Arial"/>
            </a:endParaRPr>
          </a:p>
          <a:p>
            <a:pPr defTabSz="457200">
              <a:lnSpc>
                <a:spcPct val="100000"/>
              </a:lnSpc>
              <a:spcAft>
                <a:spcPts val="499"/>
              </a:spcAft>
            </a:pPr>
            <a:r>
              <a:rPr lang="en-US" sz="1200" b="0" u="none" strike="noStrike">
                <a:solidFill>
                  <a:srgbClr val="000000"/>
                </a:solidFill>
                <a:effectLst/>
                <a:uFillTx/>
                <a:latin typeface="Calibri"/>
              </a:rPr>
              <a:t>• Expected benefit: a more organised and searchable process.</a:t>
            </a:r>
            <a:endParaRPr lang="en-IN" sz="1200" b="0" u="none" strike="noStrike">
              <a:solidFill>
                <a:srgbClr val="000000"/>
              </a:solidFill>
              <a:effectLst/>
              <a:uFillTx/>
              <a:latin typeface="Arial"/>
            </a:endParaRPr>
          </a:p>
        </p:txBody>
      </p:sp>
      <p:sp>
        <p:nvSpPr>
          <p:cNvPr id="79" name="TextBox 8"/>
          <p:cNvSpPr/>
          <p:nvPr/>
        </p:nvSpPr>
        <p:spPr>
          <a:xfrm>
            <a:off x="320040" y="6510600"/>
            <a:ext cx="3012840" cy="1969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700" b="0" u="none" strike="noStrike">
                <a:solidFill>
                  <a:srgbClr val="5A5A5A"/>
                </a:solidFill>
                <a:effectLst/>
                <a:uFillTx/>
                <a:latin typeface="Calibri"/>
                <a:ea typeface="Microsoft YaHei"/>
              </a:rPr>
              <a:t>Department of </a:t>
            </a:r>
            <a:r>
              <a:rPr lang="en-US" sz="700" b="0" u="none" strike="noStrike">
                <a:solidFill>
                  <a:srgbClr val="5A5A5A"/>
                </a:solidFill>
                <a:effectLst/>
                <a:uFillTx/>
                <a:latin typeface="Calibri"/>
              </a:rPr>
              <a:t> Computer Application  | Graphic Era (Deemed to be University)</a:t>
            </a:r>
            <a:endParaRPr lang="en-IN" sz="700" b="0" u="none" strike="noStrike">
              <a:solidFill>
                <a:srgbClr val="000000"/>
              </a:solidFill>
              <a:effectLst/>
              <a:uFillTx/>
              <a:latin typeface="Arial"/>
            </a:endParaRPr>
          </a:p>
        </p:txBody>
      </p:sp>
      <p:sp>
        <p:nvSpPr>
          <p:cNvPr id="80" name="TextBox 9"/>
          <p:cNvSpPr/>
          <p:nvPr/>
        </p:nvSpPr>
        <p:spPr>
          <a:xfrm>
            <a:off x="10652760" y="6510600"/>
            <a:ext cx="1096920" cy="20088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700" b="0" u="none" strike="noStrike">
                <a:solidFill>
                  <a:srgbClr val="5A5A5A"/>
                </a:solidFill>
                <a:effectLst/>
                <a:uFillTx/>
                <a:latin typeface="Calibri"/>
              </a:rPr>
              <a:t>3/10</a:t>
            </a:r>
            <a:endParaRPr lang="en-IN"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TextBox 1"/>
          <p:cNvSpPr/>
          <p:nvPr/>
        </p:nvSpPr>
        <p:spPr>
          <a:xfrm>
            <a:off x="411480" y="228600"/>
            <a:ext cx="10789560" cy="411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500" b="1" u="none" strike="noStrike">
                <a:solidFill>
                  <a:srgbClr val="143769"/>
                </a:solidFill>
                <a:effectLst/>
                <a:uFillTx/>
                <a:latin typeface="Calibri"/>
              </a:rPr>
              <a:t>Objectives</a:t>
            </a:r>
            <a:endParaRPr lang="en-IN" sz="2500" b="0" u="none" strike="noStrike">
              <a:solidFill>
                <a:srgbClr val="000000"/>
              </a:solidFill>
              <a:effectLst/>
              <a:uFillTx/>
              <a:latin typeface="Arial"/>
            </a:endParaRPr>
          </a:p>
        </p:txBody>
      </p:sp>
      <p:sp>
        <p:nvSpPr>
          <p:cNvPr id="82" name="Rectangle 2"/>
          <p:cNvSpPr/>
          <p:nvPr/>
        </p:nvSpPr>
        <p:spPr>
          <a:xfrm>
            <a:off x="411480" y="722520"/>
            <a:ext cx="11292480" cy="1800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US" sz="1800" b="0" u="none" strike="noStrike">
              <a:solidFill>
                <a:schemeClr val="lt1"/>
              </a:solidFill>
              <a:effectLst/>
              <a:uFillTx/>
              <a:latin typeface="Calibri"/>
            </a:endParaRPr>
          </a:p>
        </p:txBody>
      </p:sp>
      <p:sp>
        <p:nvSpPr>
          <p:cNvPr id="83" name="TextBox 3"/>
          <p:cNvSpPr/>
          <p:nvPr/>
        </p:nvSpPr>
        <p:spPr>
          <a:xfrm>
            <a:off x="685800" y="1051560"/>
            <a:ext cx="1069812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99"/>
              </a:spcAft>
            </a:pPr>
            <a:r>
              <a:rPr lang="en-US" sz="1500" b="0" u="none" strike="noStrike">
                <a:solidFill>
                  <a:srgbClr val="000000"/>
                </a:solidFill>
                <a:effectLst/>
                <a:uFillTx/>
                <a:latin typeface="Calibri"/>
              </a:rPr>
              <a:t>• Create </a:t>
            </a:r>
            <a:r>
              <a:rPr lang="en-US" sz="1500" b="0" u="none" strike="noStrike">
                <a:solidFill>
                  <a:srgbClr val="000000"/>
                </a:solidFill>
                <a:effectLst/>
                <a:uFillTx/>
                <a:latin typeface="Calibri"/>
              </a:rPr>
              <a:t>one </a:t>
            </a:r>
            <a:r>
              <a:rPr lang="en-US" sz="1500" b="0" u="none" strike="noStrike">
                <a:solidFill>
                  <a:srgbClr val="000000"/>
                </a:solidFill>
                <a:effectLst/>
                <a:uFillTx/>
                <a:latin typeface="Calibri"/>
              </a:rPr>
              <a:t>common </a:t>
            </a:r>
            <a:r>
              <a:rPr lang="en-US" sz="1500" b="0" u="none" strike="noStrike">
                <a:solidFill>
                  <a:srgbClr val="000000"/>
                </a:solidFill>
                <a:effectLst/>
                <a:uFillTx/>
                <a:latin typeface="Calibri"/>
              </a:rPr>
              <a:t>platform for </a:t>
            </a:r>
            <a:r>
              <a:rPr lang="en-US" sz="1500" b="0" u="none" strike="noStrike">
                <a:solidFill>
                  <a:srgbClr val="000000"/>
                </a:solidFill>
                <a:effectLst/>
                <a:uFillTx/>
                <a:latin typeface="Calibri"/>
              </a:rPr>
              <a:t>managing </a:t>
            </a:r>
            <a:r>
              <a:rPr lang="en-US" sz="1500" b="0" u="none" strike="noStrike">
                <a:solidFill>
                  <a:srgbClr val="000000"/>
                </a:solidFill>
                <a:effectLst/>
                <a:uFillTx/>
                <a:latin typeface="Calibri"/>
              </a:rPr>
              <a:t>college Lost </a:t>
            </a:r>
            <a:r>
              <a:rPr lang="en-US" sz="1500" b="0" u="none" strike="noStrike">
                <a:solidFill>
                  <a:srgbClr val="000000"/>
                </a:solidFill>
                <a:effectLst/>
                <a:uFillTx/>
                <a:latin typeface="Calibri"/>
              </a:rPr>
              <a:t>&amp; Found </a:t>
            </a:r>
            <a:r>
              <a:rPr lang="en-US" sz="1500" b="0" u="none" strike="noStrike">
                <a:solidFill>
                  <a:srgbClr val="000000"/>
                </a:solidFill>
                <a:effectLst/>
                <a:uFillTx/>
                <a:latin typeface="Calibri"/>
              </a:rPr>
              <a:t>items.</a:t>
            </a:r>
            <a:endParaRPr lang="en-IN" sz="1500" b="0" u="none" strike="noStrike">
              <a:solidFill>
                <a:srgbClr val="000000"/>
              </a:solidFill>
              <a:effectLst/>
              <a:uFillTx/>
              <a:latin typeface="Arial"/>
            </a:endParaRPr>
          </a:p>
          <a:p>
            <a:pPr defTabSz="457200">
              <a:lnSpc>
                <a:spcPct val="100000"/>
              </a:lnSpc>
              <a:spcAft>
                <a:spcPts val="499"/>
              </a:spcAft>
            </a:pPr>
            <a:r>
              <a:rPr lang="en-US" sz="1500" b="0" u="none" strike="noStrike">
                <a:solidFill>
                  <a:srgbClr val="000000"/>
                </a:solidFill>
                <a:effectLst/>
                <a:uFillTx/>
                <a:latin typeface="Calibri"/>
              </a:rPr>
              <a:t>• Support </a:t>
            </a:r>
            <a:r>
              <a:rPr lang="en-US" sz="1500" b="0" u="none" strike="noStrike">
                <a:solidFill>
                  <a:srgbClr val="000000"/>
                </a:solidFill>
                <a:effectLst/>
                <a:uFillTx/>
                <a:latin typeface="Calibri"/>
              </a:rPr>
              <a:t>registration, </a:t>
            </a:r>
            <a:r>
              <a:rPr lang="en-US" sz="1500" b="0" u="none" strike="noStrike">
                <a:solidFill>
                  <a:srgbClr val="000000"/>
                </a:solidFill>
                <a:effectLst/>
                <a:uFillTx/>
                <a:latin typeface="Calibri"/>
              </a:rPr>
              <a:t>login, </a:t>
            </a:r>
            <a:r>
              <a:rPr lang="en-US" sz="1500" b="0" u="none" strike="noStrike">
                <a:solidFill>
                  <a:srgbClr val="000000"/>
                </a:solidFill>
                <a:effectLst/>
                <a:uFillTx/>
                <a:latin typeface="Calibri"/>
              </a:rPr>
              <a:t>logout, </a:t>
            </a:r>
            <a:r>
              <a:rPr lang="en-US" sz="1500" b="0" u="none" strike="noStrike">
                <a:solidFill>
                  <a:srgbClr val="000000"/>
                </a:solidFill>
                <a:effectLst/>
                <a:uFillTx/>
                <a:latin typeface="Calibri"/>
              </a:rPr>
              <a:t>profiles, </a:t>
            </a:r>
            <a:r>
              <a:rPr lang="en-US" sz="1500" b="0" u="none" strike="noStrike">
                <a:solidFill>
                  <a:srgbClr val="000000"/>
                </a:solidFill>
                <a:effectLst/>
                <a:uFillTx/>
                <a:latin typeface="Calibri"/>
              </a:rPr>
              <a:t>item </a:t>
            </a:r>
            <a:r>
              <a:rPr lang="en-US" sz="1500" b="0" u="none" strike="noStrike">
                <a:solidFill>
                  <a:srgbClr val="000000"/>
                </a:solidFill>
                <a:effectLst/>
                <a:uFillTx/>
                <a:latin typeface="Calibri"/>
              </a:rPr>
              <a:t>reporting, </a:t>
            </a:r>
            <a:r>
              <a:rPr lang="en-US" sz="1500" b="0" u="none" strike="noStrike">
                <a:solidFill>
                  <a:srgbClr val="000000"/>
                </a:solidFill>
                <a:effectLst/>
                <a:uFillTx/>
                <a:latin typeface="Calibri"/>
              </a:rPr>
              <a:t>browsing, </a:t>
            </a:r>
            <a:r>
              <a:rPr lang="en-US" sz="1500" b="0" u="none" strike="noStrike">
                <a:solidFill>
                  <a:srgbClr val="000000"/>
                </a:solidFill>
                <a:effectLst/>
                <a:uFillTx/>
                <a:latin typeface="Calibri"/>
              </a:rPr>
              <a:t>filtering, </a:t>
            </a:r>
            <a:r>
              <a:rPr lang="en-US" sz="1500" b="0" u="none" strike="noStrike">
                <a:solidFill>
                  <a:srgbClr val="000000"/>
                </a:solidFill>
                <a:effectLst/>
                <a:uFillTx/>
                <a:latin typeface="Calibri"/>
              </a:rPr>
              <a:t>editing, and </a:t>
            </a:r>
            <a:r>
              <a:rPr lang="en-US" sz="1500" b="0" u="none" strike="noStrike">
                <a:solidFill>
                  <a:srgbClr val="000000"/>
                </a:solidFill>
                <a:effectLst/>
                <a:uFillTx/>
                <a:latin typeface="Calibri"/>
              </a:rPr>
              <a:t>deletion.</a:t>
            </a:r>
            <a:endParaRPr lang="en-IN" sz="1500" b="0" u="none" strike="noStrike">
              <a:solidFill>
                <a:srgbClr val="000000"/>
              </a:solidFill>
              <a:effectLst/>
              <a:uFillTx/>
              <a:latin typeface="Arial"/>
            </a:endParaRPr>
          </a:p>
          <a:p>
            <a:pPr defTabSz="457200">
              <a:lnSpc>
                <a:spcPct val="100000"/>
              </a:lnSpc>
              <a:spcAft>
                <a:spcPts val="499"/>
              </a:spcAft>
            </a:pPr>
            <a:r>
              <a:rPr lang="en-US" sz="1500" b="0" u="none" strike="noStrike">
                <a:solidFill>
                  <a:srgbClr val="000000"/>
                </a:solidFill>
                <a:effectLst/>
                <a:uFillTx/>
                <a:latin typeface="Calibri"/>
              </a:rPr>
              <a:t>• Provide </a:t>
            </a:r>
            <a:r>
              <a:rPr lang="en-US" sz="1500" b="0" u="none" strike="noStrike">
                <a:solidFill>
                  <a:srgbClr val="000000"/>
                </a:solidFill>
                <a:effectLst/>
                <a:uFillTx/>
                <a:latin typeface="Calibri"/>
              </a:rPr>
              <a:t>an </a:t>
            </a:r>
            <a:r>
              <a:rPr lang="en-US" sz="1500" b="0" u="none" strike="noStrike">
                <a:solidFill>
                  <a:srgbClr val="000000"/>
                </a:solidFill>
                <a:effectLst/>
                <a:uFillTx/>
                <a:latin typeface="Calibri"/>
              </a:rPr>
              <a:t>ownership </a:t>
            </a:r>
            <a:r>
              <a:rPr lang="en-US" sz="1500" b="0" u="none" strike="noStrike">
                <a:solidFill>
                  <a:srgbClr val="000000"/>
                </a:solidFill>
                <a:effectLst/>
                <a:uFillTx/>
                <a:latin typeface="Calibri"/>
              </a:rPr>
              <a:t>claim </a:t>
            </a:r>
            <a:r>
              <a:rPr lang="en-US" sz="1500" b="0" u="none" strike="noStrike">
                <a:solidFill>
                  <a:srgbClr val="000000"/>
                </a:solidFill>
                <a:effectLst/>
                <a:uFillTx/>
                <a:latin typeface="Calibri"/>
              </a:rPr>
              <a:t>process </a:t>
            </a:r>
            <a:r>
              <a:rPr lang="en-US" sz="1500" b="0" u="none" strike="noStrike">
                <a:solidFill>
                  <a:srgbClr val="000000"/>
                </a:solidFill>
                <a:effectLst/>
                <a:uFillTx/>
                <a:latin typeface="Calibri"/>
              </a:rPr>
              <a:t>with </a:t>
            </a:r>
            <a:r>
              <a:rPr lang="en-US" sz="1500" b="0" u="none" strike="noStrike">
                <a:solidFill>
                  <a:srgbClr val="000000"/>
                </a:solidFill>
                <a:effectLst/>
                <a:uFillTx/>
                <a:latin typeface="Calibri"/>
              </a:rPr>
              <a:t>administrat</a:t>
            </a:r>
            <a:r>
              <a:rPr lang="en-US" sz="1500" b="0" u="none" strike="noStrike">
                <a:solidFill>
                  <a:srgbClr val="000000"/>
                </a:solidFill>
                <a:effectLst/>
                <a:uFillTx/>
                <a:latin typeface="Calibri"/>
              </a:rPr>
              <a:t>or approval </a:t>
            </a:r>
            <a:r>
              <a:rPr lang="en-US" sz="1500" b="0" u="none" strike="noStrike">
                <a:solidFill>
                  <a:srgbClr val="000000"/>
                </a:solidFill>
                <a:effectLst/>
                <a:uFillTx/>
                <a:latin typeface="Calibri"/>
              </a:rPr>
              <a:t>or </a:t>
            </a:r>
            <a:r>
              <a:rPr lang="en-US" sz="1500" b="0" u="none" strike="noStrike">
                <a:solidFill>
                  <a:srgbClr val="000000"/>
                </a:solidFill>
                <a:effectLst/>
                <a:uFillTx/>
                <a:latin typeface="Calibri"/>
              </a:rPr>
              <a:t>rejection.</a:t>
            </a:r>
            <a:endParaRPr lang="en-IN" sz="1500" b="0" u="none" strike="noStrike">
              <a:solidFill>
                <a:srgbClr val="000000"/>
              </a:solidFill>
              <a:effectLst/>
              <a:uFillTx/>
              <a:latin typeface="Arial"/>
            </a:endParaRPr>
          </a:p>
          <a:p>
            <a:pPr defTabSz="457200">
              <a:lnSpc>
                <a:spcPct val="100000"/>
              </a:lnSpc>
              <a:spcAft>
                <a:spcPts val="499"/>
              </a:spcAft>
            </a:pPr>
            <a:r>
              <a:rPr lang="en-US" sz="1500" b="0" u="none" strike="noStrike">
                <a:solidFill>
                  <a:srgbClr val="000000"/>
                </a:solidFill>
                <a:effectLst/>
                <a:uFillTx/>
                <a:latin typeface="Calibri"/>
              </a:rPr>
              <a:t>• Provide </a:t>
            </a:r>
            <a:r>
              <a:rPr lang="en-US" sz="1500" b="0" u="none" strike="noStrike">
                <a:solidFill>
                  <a:srgbClr val="000000"/>
                </a:solidFill>
                <a:effectLst/>
                <a:uFillTx/>
                <a:latin typeface="Calibri"/>
              </a:rPr>
              <a:t>user </a:t>
            </a:r>
            <a:r>
              <a:rPr lang="en-US" sz="1500" b="0" u="none" strike="noStrike">
                <a:solidFill>
                  <a:srgbClr val="000000"/>
                </a:solidFill>
                <a:effectLst/>
                <a:uFillTx/>
                <a:latin typeface="Calibri"/>
              </a:rPr>
              <a:t>dashboards </a:t>
            </a:r>
            <a:r>
              <a:rPr lang="en-US" sz="1500" b="0" u="none" strike="noStrike">
                <a:solidFill>
                  <a:srgbClr val="000000"/>
                </a:solidFill>
                <a:effectLst/>
                <a:uFillTx/>
                <a:latin typeface="Calibri"/>
              </a:rPr>
              <a:t>and </a:t>
            </a:r>
            <a:r>
              <a:rPr lang="en-US" sz="1500" b="0" u="none" strike="noStrike">
                <a:solidFill>
                  <a:srgbClr val="000000"/>
                </a:solidFill>
                <a:effectLst/>
                <a:uFillTx/>
                <a:latin typeface="Calibri"/>
              </a:rPr>
              <a:t>notification</a:t>
            </a:r>
            <a:r>
              <a:rPr lang="en-US" sz="1500" b="0" u="none" strike="noStrike">
                <a:solidFill>
                  <a:srgbClr val="000000"/>
                </a:solidFill>
                <a:effectLst/>
                <a:uFillTx/>
                <a:latin typeface="Calibri"/>
              </a:rPr>
              <a:t>s for </a:t>
            </a:r>
            <a:r>
              <a:rPr lang="en-US" sz="1500" b="0" u="none" strike="noStrike">
                <a:solidFill>
                  <a:srgbClr val="000000"/>
                </a:solidFill>
                <a:effectLst/>
                <a:uFillTx/>
                <a:latin typeface="Calibri"/>
              </a:rPr>
              <a:t>important </a:t>
            </a:r>
            <a:r>
              <a:rPr lang="en-US" sz="1500" b="0" u="none" strike="noStrike">
                <a:solidFill>
                  <a:srgbClr val="000000"/>
                </a:solidFill>
                <a:effectLst/>
                <a:uFillTx/>
                <a:latin typeface="Calibri"/>
              </a:rPr>
              <a:t>activities.</a:t>
            </a:r>
            <a:endParaRPr lang="en-IN" sz="1500" b="0" u="none" strike="noStrike">
              <a:solidFill>
                <a:srgbClr val="000000"/>
              </a:solidFill>
              <a:effectLst/>
              <a:uFillTx/>
              <a:latin typeface="Arial"/>
            </a:endParaRPr>
          </a:p>
          <a:p>
            <a:pPr defTabSz="457200">
              <a:lnSpc>
                <a:spcPct val="100000"/>
              </a:lnSpc>
              <a:spcAft>
                <a:spcPts val="499"/>
              </a:spcAft>
            </a:pPr>
            <a:r>
              <a:rPr lang="en-US" sz="1500" b="0" u="none" strike="noStrike">
                <a:solidFill>
                  <a:srgbClr val="000000"/>
                </a:solidFill>
                <a:effectLst/>
                <a:uFillTx/>
                <a:latin typeface="Calibri"/>
              </a:rPr>
              <a:t>• Allow </a:t>
            </a:r>
            <a:r>
              <a:rPr lang="en-US" sz="1500" b="0" u="none" strike="noStrike">
                <a:solidFill>
                  <a:srgbClr val="000000"/>
                </a:solidFill>
                <a:effectLst/>
                <a:uFillTx/>
                <a:latin typeface="Calibri"/>
              </a:rPr>
              <a:t>administrat</a:t>
            </a:r>
            <a:r>
              <a:rPr lang="en-US" sz="1500" b="0" u="none" strike="noStrike">
                <a:solidFill>
                  <a:srgbClr val="000000"/>
                </a:solidFill>
                <a:effectLst/>
                <a:uFillTx/>
                <a:latin typeface="Calibri"/>
              </a:rPr>
              <a:t>ors to </a:t>
            </a:r>
            <a:r>
              <a:rPr lang="en-US" sz="1500" b="0" u="none" strike="noStrike">
                <a:solidFill>
                  <a:srgbClr val="000000"/>
                </a:solidFill>
                <a:effectLst/>
                <a:uFillTx/>
                <a:latin typeface="Calibri"/>
              </a:rPr>
              <a:t>manage </a:t>
            </a:r>
            <a:r>
              <a:rPr lang="en-US" sz="1500" b="0" u="none" strike="noStrike">
                <a:solidFill>
                  <a:srgbClr val="000000"/>
                </a:solidFill>
                <a:effectLst/>
                <a:uFillTx/>
                <a:latin typeface="Calibri"/>
              </a:rPr>
              <a:t>users, </a:t>
            </a:r>
            <a:r>
              <a:rPr lang="en-US" sz="1500" b="0" u="none" strike="noStrike">
                <a:solidFill>
                  <a:srgbClr val="000000"/>
                </a:solidFill>
                <a:effectLst/>
                <a:uFillTx/>
                <a:latin typeface="Calibri"/>
              </a:rPr>
              <a:t>items, </a:t>
            </a:r>
            <a:r>
              <a:rPr lang="en-US" sz="1500" b="0" u="none" strike="noStrike">
                <a:solidFill>
                  <a:srgbClr val="000000"/>
                </a:solidFill>
                <a:effectLst/>
                <a:uFillTx/>
                <a:latin typeface="Calibri"/>
              </a:rPr>
              <a:t>claims, item </a:t>
            </a:r>
            <a:r>
              <a:rPr lang="en-US" sz="1500" b="0" u="none" strike="noStrike">
                <a:solidFill>
                  <a:srgbClr val="000000"/>
                </a:solidFill>
                <a:effectLst/>
                <a:uFillTx/>
                <a:latin typeface="Calibri"/>
              </a:rPr>
              <a:t>status, and </a:t>
            </a:r>
            <a:r>
              <a:rPr lang="en-US" sz="1500" b="0" u="none" strike="noStrike">
                <a:solidFill>
                  <a:srgbClr val="000000"/>
                </a:solidFill>
                <a:effectLst/>
                <a:uFillTx/>
                <a:latin typeface="Calibri"/>
              </a:rPr>
              <a:t>reports/stat</a:t>
            </a:r>
            <a:r>
              <a:rPr lang="en-US" sz="1500" b="0" u="none" strike="noStrike">
                <a:solidFill>
                  <a:srgbClr val="000000"/>
                </a:solidFill>
                <a:effectLst/>
                <a:uFillTx/>
                <a:latin typeface="Calibri"/>
              </a:rPr>
              <a:t>istics.</a:t>
            </a:r>
            <a:endParaRPr lang="en-IN" sz="1500" b="0" u="none" strike="noStrike">
              <a:solidFill>
                <a:srgbClr val="000000"/>
              </a:solidFill>
              <a:effectLst/>
              <a:uFillTx/>
              <a:latin typeface="Arial"/>
            </a:endParaRPr>
          </a:p>
          <a:p>
            <a:pPr defTabSz="457200">
              <a:lnSpc>
                <a:spcPct val="100000"/>
              </a:lnSpc>
              <a:spcAft>
                <a:spcPts val="499"/>
              </a:spcAft>
            </a:pPr>
            <a:r>
              <a:rPr lang="en-US" sz="1500" b="0" u="none" strike="noStrike">
                <a:solidFill>
                  <a:srgbClr val="000000"/>
                </a:solidFill>
                <a:effectLst/>
                <a:uFillTx/>
                <a:latin typeface="Calibri"/>
              </a:rPr>
              <a:t>• Use a </a:t>
            </a:r>
            <a:r>
              <a:rPr lang="en-US" sz="1500" b="0" u="none" strike="noStrike">
                <a:solidFill>
                  <a:srgbClr val="000000"/>
                </a:solidFill>
                <a:effectLst/>
                <a:uFillTx/>
                <a:latin typeface="Calibri"/>
              </a:rPr>
              <a:t>modular </a:t>
            </a:r>
            <a:r>
              <a:rPr lang="en-US" sz="1500" b="0" u="none" strike="noStrike">
                <a:solidFill>
                  <a:srgbClr val="000000"/>
                </a:solidFill>
                <a:effectLst/>
                <a:uFillTx/>
                <a:latin typeface="Calibri"/>
              </a:rPr>
              <a:t>Java/Javalin </a:t>
            </a:r>
            <a:r>
              <a:rPr lang="en-US" sz="1500" b="0" u="none" strike="noStrike">
                <a:solidFill>
                  <a:srgbClr val="000000"/>
                </a:solidFill>
                <a:effectLst/>
                <a:uFillTx/>
                <a:latin typeface="Calibri"/>
              </a:rPr>
              <a:t>structure </a:t>
            </a:r>
            <a:r>
              <a:rPr lang="en-US" sz="1500" b="0" u="none" strike="noStrike">
                <a:solidFill>
                  <a:srgbClr val="000000"/>
                </a:solidFill>
                <a:effectLst/>
                <a:uFillTx/>
                <a:latin typeface="Calibri"/>
              </a:rPr>
              <a:t>with SQLite </a:t>
            </a:r>
            <a:r>
              <a:rPr lang="en-US" sz="1500" b="0" u="none" strike="noStrike">
                <a:solidFill>
                  <a:srgbClr val="000000"/>
                </a:solidFill>
                <a:effectLst/>
                <a:uFillTx/>
                <a:latin typeface="Calibri"/>
              </a:rPr>
              <a:t>persistence </a:t>
            </a:r>
            <a:r>
              <a:rPr lang="en-US" sz="1500" b="0" u="none" strike="noStrike">
                <a:solidFill>
                  <a:srgbClr val="000000"/>
                </a:solidFill>
                <a:effectLst/>
                <a:uFillTx/>
                <a:latin typeface="Calibri"/>
              </a:rPr>
              <a:t>and Maven </a:t>
            </a:r>
            <a:r>
              <a:rPr lang="en-US" sz="1500" b="0" u="none" strike="noStrike">
                <a:solidFill>
                  <a:srgbClr val="000000"/>
                </a:solidFill>
                <a:effectLst/>
                <a:uFillTx/>
                <a:latin typeface="Calibri"/>
              </a:rPr>
              <a:t>packaging.</a:t>
            </a:r>
            <a:endParaRPr lang="en-IN" sz="1500" b="0" u="none" strike="noStrike">
              <a:solidFill>
                <a:srgbClr val="000000"/>
              </a:solidFill>
              <a:effectLst/>
              <a:uFillTx/>
              <a:latin typeface="Arial"/>
            </a:endParaRPr>
          </a:p>
        </p:txBody>
      </p:sp>
      <p:sp>
        <p:nvSpPr>
          <p:cNvPr id="84" name="Rounded Rectangle 4"/>
          <p:cNvSpPr/>
          <p:nvPr/>
        </p:nvSpPr>
        <p:spPr>
          <a:xfrm>
            <a:off x="1287720" y="3780000"/>
            <a:ext cx="9692280" cy="77688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Key Objective</a:t>
            </a:r>
            <a:endParaRPr lang="en-IN" sz="1300" b="0" u="none" strike="noStrike">
              <a:solidFill>
                <a:srgbClr val="000000"/>
              </a:solidFill>
              <a:effectLst/>
              <a:uFillTx/>
              <a:latin typeface="Arial"/>
            </a:endParaRPr>
          </a:p>
          <a:p>
            <a:pPr defTabSz="457200">
              <a:lnSpc>
                <a:spcPct val="100000"/>
              </a:lnSpc>
            </a:pPr>
            <a:r>
              <a:rPr lang="en-US" sz="1200" b="0" u="none" strike="noStrike">
                <a:solidFill>
                  <a:srgbClr val="000000"/>
                </a:solidFill>
                <a:effectLst/>
                <a:uFillTx/>
                <a:latin typeface="Calibri"/>
              </a:rPr>
              <a:t>Make the Lost &amp; Found process </a:t>
            </a:r>
            <a:r>
              <a:rPr lang="en-US" sz="1200" b="0" u="none" strike="noStrike">
                <a:solidFill>
                  <a:srgbClr val="000000"/>
                </a:solidFill>
                <a:effectLst/>
                <a:uFillTx/>
                <a:latin typeface="Calibri"/>
              </a:rPr>
              <a:t>easier to report, search, manage, and </a:t>
            </a:r>
            <a:r>
              <a:rPr lang="en-US" sz="1200" b="0" u="none" strike="noStrike">
                <a:solidFill>
                  <a:srgbClr val="000000"/>
                </a:solidFill>
                <a:effectLst/>
                <a:uFillTx/>
                <a:latin typeface="Calibri"/>
              </a:rPr>
              <a:t>track from one web application.</a:t>
            </a:r>
            <a:endParaRPr lang="en-IN" sz="1200" b="0" u="none" strike="noStrike">
              <a:solidFill>
                <a:srgbClr val="000000"/>
              </a:solidFill>
              <a:effectLst/>
              <a:uFillTx/>
              <a:latin typeface="Arial"/>
            </a:endParaRPr>
          </a:p>
        </p:txBody>
      </p:sp>
      <p:sp>
        <p:nvSpPr>
          <p:cNvPr id="85" name="TextBox 5"/>
          <p:cNvSpPr/>
          <p:nvPr/>
        </p:nvSpPr>
        <p:spPr>
          <a:xfrm>
            <a:off x="320040" y="6510600"/>
            <a:ext cx="3012120" cy="1969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700" b="0" u="none" strike="noStrike">
                <a:solidFill>
                  <a:srgbClr val="5A5A5A"/>
                </a:solidFill>
                <a:effectLst/>
                <a:uFillTx/>
                <a:latin typeface="Calibri"/>
                <a:ea typeface="Microsoft YaHei"/>
              </a:rPr>
              <a:t>Department of </a:t>
            </a:r>
            <a:r>
              <a:rPr lang="en-US" sz="700" b="0" u="none" strike="noStrike">
                <a:solidFill>
                  <a:srgbClr val="5A5A5A"/>
                </a:solidFill>
                <a:effectLst/>
                <a:uFillTx/>
                <a:latin typeface="Calibri"/>
              </a:rPr>
              <a:t> Computer Application  | Graphic Era (Deemed </a:t>
            </a:r>
            <a:r>
              <a:rPr lang="en-US" sz="700" b="0" u="none" strike="noStrike">
                <a:solidFill>
                  <a:srgbClr val="5A5A5A"/>
                </a:solidFill>
                <a:effectLst/>
                <a:uFillTx/>
                <a:latin typeface="Calibri"/>
              </a:rPr>
              <a:t>to be University)</a:t>
            </a:r>
            <a:endParaRPr lang="en-IN" sz="700" b="0" u="none" strike="noStrike">
              <a:solidFill>
                <a:srgbClr val="000000"/>
              </a:solidFill>
              <a:effectLst/>
              <a:uFillTx/>
              <a:latin typeface="Arial"/>
            </a:endParaRPr>
          </a:p>
        </p:txBody>
      </p:sp>
      <p:sp>
        <p:nvSpPr>
          <p:cNvPr id="86" name="TextBox 6"/>
          <p:cNvSpPr/>
          <p:nvPr/>
        </p:nvSpPr>
        <p:spPr>
          <a:xfrm>
            <a:off x="10652760" y="6510600"/>
            <a:ext cx="1096920" cy="20088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700" b="0" u="none" strike="noStrike">
                <a:solidFill>
                  <a:srgbClr val="5A5A5A"/>
                </a:solidFill>
                <a:effectLst/>
                <a:uFillTx/>
                <a:latin typeface="Calibri"/>
              </a:rPr>
              <a:t>4/10</a:t>
            </a:r>
            <a:endParaRPr lang="en-IN"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TextBox 1"/>
          <p:cNvSpPr/>
          <p:nvPr/>
        </p:nvSpPr>
        <p:spPr>
          <a:xfrm>
            <a:off x="411480" y="228600"/>
            <a:ext cx="10789560" cy="411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500" b="1" u="none" strike="noStrike">
                <a:solidFill>
                  <a:srgbClr val="143769"/>
                </a:solidFill>
                <a:effectLst/>
                <a:uFillTx/>
                <a:latin typeface="Calibri"/>
              </a:rPr>
              <a:t>Proposed Solution</a:t>
            </a:r>
            <a:endParaRPr lang="en-IN" sz="2500" b="0" u="none" strike="noStrike">
              <a:solidFill>
                <a:srgbClr val="000000"/>
              </a:solidFill>
              <a:effectLst/>
              <a:uFillTx/>
              <a:latin typeface="Arial"/>
            </a:endParaRPr>
          </a:p>
        </p:txBody>
      </p:sp>
      <p:sp>
        <p:nvSpPr>
          <p:cNvPr id="88" name="Rectangle 2"/>
          <p:cNvSpPr/>
          <p:nvPr/>
        </p:nvSpPr>
        <p:spPr>
          <a:xfrm>
            <a:off x="411480" y="722520"/>
            <a:ext cx="11292480" cy="1800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US" sz="1800" b="0" u="none" strike="noStrike">
              <a:solidFill>
                <a:schemeClr val="lt1"/>
              </a:solidFill>
              <a:effectLst/>
              <a:uFillTx/>
              <a:latin typeface="Calibri"/>
            </a:endParaRPr>
          </a:p>
        </p:txBody>
      </p:sp>
      <p:sp>
        <p:nvSpPr>
          <p:cNvPr id="89" name="Rounded Rectangle 3"/>
          <p:cNvSpPr/>
          <p:nvPr/>
        </p:nvSpPr>
        <p:spPr>
          <a:xfrm>
            <a:off x="360000" y="919800"/>
            <a:ext cx="5348880" cy="448020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400" b="1" u="none" strike="noStrike">
                <a:solidFill>
                  <a:srgbClr val="143769"/>
                </a:solidFill>
                <a:effectLst/>
                <a:uFillTx/>
                <a:latin typeface="Calibri"/>
              </a:rPr>
              <a:t>Proposed Approach</a:t>
            </a:r>
            <a:endParaRPr lang="en-IN" sz="14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Calibri"/>
              </a:rPr>
              <a:t>1. User registers and logs in.</a:t>
            </a:r>
            <a:br>
              <a:rPr sz="1100"/>
            </a:br>
            <a:br>
              <a:rPr sz="1100"/>
            </a:br>
            <a:r>
              <a:rPr lang="en-US" sz="1100" b="0" u="none" strike="noStrike">
                <a:solidFill>
                  <a:srgbClr val="000000"/>
                </a:solidFill>
                <a:effectLst/>
                <a:uFillTx/>
                <a:latin typeface="Calibri"/>
              </a:rPr>
              <a:t>2. A lost/found item is reported with title, category, colour, brand, location, date, description and image.</a:t>
            </a:r>
            <a:br>
              <a:rPr sz="1100"/>
            </a:br>
            <a:br>
              <a:rPr sz="1100"/>
            </a:br>
            <a:r>
              <a:rPr lang="en-US" sz="1100" b="0" u="none" strike="noStrike">
                <a:solidFill>
                  <a:srgbClr val="000000"/>
                </a:solidFill>
                <a:effectLst/>
                <a:uFillTx/>
                <a:latin typeface="Calibri"/>
              </a:rPr>
              <a:t>3. Reports are stored in SQLite and can be browsed, filtered, sorted and viewed in detail.</a:t>
            </a:r>
            <a:br>
              <a:rPr sz="1100"/>
            </a:br>
            <a:br>
              <a:rPr sz="1100"/>
            </a:br>
            <a:r>
              <a:rPr lang="en-US" sz="1100" b="0" u="none" strike="noStrike">
                <a:solidFill>
                  <a:srgbClr val="000000"/>
                </a:solidFill>
                <a:effectLst/>
                <a:uFillTx/>
                <a:latin typeface="Calibri"/>
              </a:rPr>
              <a:t>4. A user can submit an ownership claim for a suitable item.</a:t>
            </a:r>
            <a:br>
              <a:rPr sz="1100"/>
            </a:br>
            <a:br>
              <a:rPr sz="1100"/>
            </a:br>
            <a:r>
              <a:rPr lang="en-US" sz="1100" b="0" u="none" strike="noStrike">
                <a:solidFill>
                  <a:srgbClr val="000000"/>
                </a:solidFill>
                <a:effectLst/>
                <a:uFillTx/>
                <a:latin typeface="Calibri"/>
              </a:rPr>
              <a:t>5. Administrators review claims and manage users, items and reports.</a:t>
            </a:r>
            <a:br>
              <a:rPr sz="1100"/>
            </a:br>
            <a:br>
              <a:rPr sz="1100"/>
            </a:br>
            <a:r>
              <a:rPr lang="en-US" sz="1100" b="0" u="none" strike="noStrike">
                <a:solidFill>
                  <a:srgbClr val="000000"/>
                </a:solidFill>
                <a:effectLst/>
                <a:uFillTx/>
                <a:latin typeface="Calibri"/>
              </a:rPr>
              <a:t>6. Notifications and status updates help users follow the progress.</a:t>
            </a:r>
            <a:endParaRPr lang="en-IN" sz="1100" b="0" u="none" strike="noStrike">
              <a:solidFill>
                <a:srgbClr val="000000"/>
              </a:solidFill>
              <a:effectLst/>
              <a:uFillTx/>
              <a:latin typeface="Arial"/>
            </a:endParaRPr>
          </a:p>
        </p:txBody>
      </p:sp>
      <p:sp>
        <p:nvSpPr>
          <p:cNvPr id="90" name="Rounded Rectangle 4"/>
          <p:cNvSpPr/>
          <p:nvPr/>
        </p:nvSpPr>
        <p:spPr>
          <a:xfrm>
            <a:off x="5940000" y="919800"/>
            <a:ext cx="5486040" cy="448020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400" b="1" u="none" strike="noStrike">
                <a:solidFill>
                  <a:srgbClr val="143769"/>
                </a:solidFill>
                <a:effectLst/>
                <a:uFillTx/>
                <a:latin typeface="Calibri"/>
              </a:rPr>
              <a:t>Key Features</a:t>
            </a:r>
            <a:endParaRPr lang="en-IN" sz="14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Calibri"/>
              </a:rPr>
              <a:t>• Registration, login, logout and profile management</a:t>
            </a:r>
            <a:br>
              <a:rPr sz="1100"/>
            </a:br>
            <a:r>
              <a:rPr lang="en-US" sz="1100" b="0" u="none" strike="noStrike">
                <a:solidFill>
                  <a:srgbClr val="000000"/>
                </a:solidFill>
                <a:effectLst/>
                <a:uFillTx/>
                <a:latin typeface="Calibri"/>
              </a:rPr>
              <a:t>• Lost/found item reporting</a:t>
            </a:r>
            <a:br>
              <a:rPr sz="1100"/>
            </a:br>
            <a:r>
              <a:rPr lang="en-US" sz="1100" b="0" u="none" strike="noStrike">
                <a:solidFill>
                  <a:srgbClr val="000000"/>
                </a:solidFill>
                <a:effectLst/>
                <a:uFillTx/>
                <a:latin typeface="Calibri"/>
              </a:rPr>
              <a:t>• Image upload and item details</a:t>
            </a:r>
            <a:br>
              <a:rPr sz="1100"/>
            </a:br>
            <a:r>
              <a:rPr lang="en-US" sz="1100" b="0" u="none" strike="noStrike">
                <a:solidFill>
                  <a:srgbClr val="000000"/>
                </a:solidFill>
                <a:effectLst/>
                <a:uFillTx/>
                <a:latin typeface="Calibri"/>
              </a:rPr>
              <a:t>• Browse, search/filter, sorting, edit and delete</a:t>
            </a:r>
            <a:br>
              <a:rPr sz="1100"/>
            </a:br>
            <a:r>
              <a:rPr lang="en-US" sz="1100" b="0" u="none" strike="noStrike">
                <a:solidFill>
                  <a:srgbClr val="000000"/>
                </a:solidFill>
                <a:effectLst/>
                <a:uFillTx/>
                <a:latin typeface="Calibri"/>
              </a:rPr>
              <a:t>• Ownership claims with admin approval/rejection</a:t>
            </a:r>
            <a:br>
              <a:rPr sz="1100"/>
            </a:br>
            <a:r>
              <a:rPr lang="en-US" sz="1100" b="0" u="none" strike="noStrike">
                <a:solidFill>
                  <a:srgbClr val="000000"/>
                </a:solidFill>
                <a:effectLst/>
                <a:uFillTx/>
                <a:latin typeface="Calibri"/>
              </a:rPr>
              <a:t>• User dashboards and notifications</a:t>
            </a:r>
            <a:br>
              <a:rPr sz="1100"/>
            </a:br>
            <a:r>
              <a:rPr lang="en-US" sz="1100" b="0" u="none" strike="noStrike">
                <a:solidFill>
                  <a:srgbClr val="000000"/>
                </a:solidFill>
                <a:effectLst/>
                <a:uFillTx/>
                <a:latin typeface="Calibri"/>
              </a:rPr>
              <a:t>• Admin management and statistics/reports</a:t>
            </a:r>
            <a:br>
              <a:rPr sz="1100"/>
            </a:br>
            <a:r>
              <a:rPr lang="en-US" sz="1100" b="0" u="none" strike="noStrike">
                <a:solidFill>
                  <a:srgbClr val="000000"/>
                </a:solidFill>
                <a:effectLst/>
                <a:uFillTx/>
                <a:latin typeface="Calibri"/>
              </a:rPr>
              <a:t>• SQLite persistence and layered Java architecture</a:t>
            </a:r>
            <a:endParaRPr lang="en-IN" sz="1100" b="0" u="none" strike="noStrike">
              <a:solidFill>
                <a:srgbClr val="000000"/>
              </a:solidFill>
              <a:effectLst/>
              <a:uFillTx/>
              <a:latin typeface="Arial"/>
            </a:endParaRPr>
          </a:p>
        </p:txBody>
      </p:sp>
      <p:sp>
        <p:nvSpPr>
          <p:cNvPr id="91" name="TextBox 5"/>
          <p:cNvSpPr/>
          <p:nvPr/>
        </p:nvSpPr>
        <p:spPr>
          <a:xfrm>
            <a:off x="320040" y="6510600"/>
            <a:ext cx="3012120" cy="1969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700" b="0" u="none" strike="noStrike">
                <a:solidFill>
                  <a:srgbClr val="5A5A5A"/>
                </a:solidFill>
                <a:effectLst/>
                <a:uFillTx/>
                <a:latin typeface="Calibri"/>
                <a:ea typeface="Microsoft YaHei"/>
              </a:rPr>
              <a:t>Department of </a:t>
            </a:r>
            <a:r>
              <a:rPr lang="en-US" sz="700" b="0" u="none" strike="noStrike">
                <a:solidFill>
                  <a:srgbClr val="5A5A5A"/>
                </a:solidFill>
                <a:effectLst/>
                <a:uFillTx/>
                <a:latin typeface="Calibri"/>
              </a:rPr>
              <a:t> Computer Application  | Graphic Era (Deemed to be University)</a:t>
            </a:r>
            <a:endParaRPr lang="en-IN" sz="700" b="0" u="none" strike="noStrike">
              <a:solidFill>
                <a:srgbClr val="000000"/>
              </a:solidFill>
              <a:effectLst/>
              <a:uFillTx/>
              <a:latin typeface="Arial"/>
            </a:endParaRPr>
          </a:p>
        </p:txBody>
      </p:sp>
      <p:sp>
        <p:nvSpPr>
          <p:cNvPr id="92" name="TextBox 6"/>
          <p:cNvSpPr/>
          <p:nvPr/>
        </p:nvSpPr>
        <p:spPr>
          <a:xfrm>
            <a:off x="10652760" y="6510600"/>
            <a:ext cx="1096920" cy="20088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700" b="0" u="none" strike="noStrike">
                <a:solidFill>
                  <a:srgbClr val="5A5A5A"/>
                </a:solidFill>
                <a:effectLst/>
                <a:uFillTx/>
                <a:latin typeface="Calibri"/>
              </a:rPr>
              <a:t>5/10</a:t>
            </a:r>
            <a:endParaRPr lang="en-IN"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Box 1"/>
          <p:cNvSpPr/>
          <p:nvPr/>
        </p:nvSpPr>
        <p:spPr>
          <a:xfrm>
            <a:off x="411480" y="228600"/>
            <a:ext cx="10789560" cy="411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500" b="1" u="none" strike="noStrike">
                <a:solidFill>
                  <a:srgbClr val="143769"/>
                </a:solidFill>
                <a:effectLst/>
                <a:uFillTx/>
                <a:latin typeface="Calibri"/>
              </a:rPr>
              <a:t>Integration of PBL Course Concepts</a:t>
            </a:r>
            <a:endParaRPr lang="en-IN" sz="2500" b="0" u="none" strike="noStrike">
              <a:solidFill>
                <a:srgbClr val="000000"/>
              </a:solidFill>
              <a:effectLst/>
              <a:uFillTx/>
              <a:latin typeface="Arial"/>
            </a:endParaRPr>
          </a:p>
        </p:txBody>
      </p:sp>
      <p:sp>
        <p:nvSpPr>
          <p:cNvPr id="94" name="Rectangle 2"/>
          <p:cNvSpPr/>
          <p:nvPr/>
        </p:nvSpPr>
        <p:spPr>
          <a:xfrm>
            <a:off x="411480" y="722520"/>
            <a:ext cx="11292480" cy="1800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US" sz="1800" b="0" u="none" strike="noStrike">
              <a:solidFill>
                <a:schemeClr val="lt1"/>
              </a:solidFill>
              <a:effectLst/>
              <a:uFillTx/>
              <a:latin typeface="Calibri"/>
            </a:endParaRPr>
          </a:p>
        </p:txBody>
      </p:sp>
      <p:graphicFrame>
        <p:nvGraphicFramePr>
          <p:cNvPr id="95" name="Table 3"/>
          <p:cNvGraphicFramePr/>
          <p:nvPr/>
        </p:nvGraphicFramePr>
        <p:xfrm>
          <a:off x="502920" y="1143000"/>
          <a:ext cx="11155320" cy="3931560"/>
        </p:xfrm>
        <a:graphic>
          <a:graphicData uri="http://schemas.openxmlformats.org/drawingml/2006/table">
            <a:tbl>
              <a:tblPr/>
              <a:tblGrid>
                <a:gridCol w="2468880"/>
                <a:gridCol w="6309360"/>
                <a:gridCol w="2377440"/>
              </a:tblGrid>
              <a:tr h="786240">
                <a:tc>
                  <a:txBody>
                    <a:bodyPr lIns="73080" rIns="73080" anchor="t">
                      <a:noAutofit/>
                    </a:bodyPr>
                    <a:p>
                      <a:pPr defTabSz="457200">
                        <a:lnSpc>
                          <a:spcPct val="100000"/>
                        </a:lnSpc>
                      </a:pPr>
                      <a:r>
                        <a:rPr lang="en-US" sz="1000" b="1" u="none" strike="noStrike">
                          <a:solidFill>
                            <a:srgbClr val="143769"/>
                          </a:solidFill>
                          <a:effectLst/>
                          <a:uFillTx/>
                          <a:latin typeface="Calibri"/>
                        </a:rPr>
                        <a:t>Course</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4FB"/>
                    </a:solidFill>
                  </a:tcPr>
                </a:tc>
                <a:tc>
                  <a:txBody>
                    <a:bodyPr lIns="73080" rIns="73080" anchor="t">
                      <a:noAutofit/>
                    </a:bodyPr>
                    <a:p>
                      <a:pPr defTabSz="457200">
                        <a:lnSpc>
                          <a:spcPct val="100000"/>
                        </a:lnSpc>
                      </a:pPr>
                      <a:r>
                        <a:rPr lang="en-US" sz="1000" b="1" u="none" strike="noStrike">
                          <a:solidFill>
                            <a:srgbClr val="143769"/>
                          </a:solidFill>
                          <a:effectLst/>
                          <a:uFillTx/>
                          <a:latin typeface="Calibri"/>
                        </a:rPr>
                        <a:t>Concepts Applied</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4FB"/>
                    </a:solidFill>
                  </a:tcPr>
                </a:tc>
                <a:tc>
                  <a:txBody>
                    <a:bodyPr lIns="73080" rIns="73080" anchor="t">
                      <a:noAutofit/>
                    </a:bodyPr>
                    <a:p>
                      <a:pPr defTabSz="457200">
                        <a:lnSpc>
                          <a:spcPct val="100000"/>
                        </a:lnSpc>
                      </a:pPr>
                      <a:r>
                        <a:rPr lang="en-US" sz="1000" b="1" u="none" strike="noStrike">
                          <a:solidFill>
                            <a:srgbClr val="143769"/>
                          </a:solidFill>
                          <a:effectLst/>
                          <a:uFillTx/>
                          <a:latin typeface="Calibri"/>
                        </a:rPr>
                        <a:t>Project Module</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4FB"/>
                    </a:solidFill>
                  </a:tcPr>
                </a:tc>
              </a:tr>
              <a:tr h="786240">
                <a:tc>
                  <a:txBody>
                    <a:bodyPr lIns="73080" rIns="73080" anchor="t">
                      <a:noAutofit/>
                    </a:bodyPr>
                    <a:p>
                      <a:pPr defTabSz="457200">
                        <a:lnSpc>
                          <a:spcPct val="100000"/>
                        </a:lnSpc>
                      </a:pPr>
                      <a:r>
                        <a:rPr lang="en-US" sz="1000" b="1" u="none" strike="noStrike">
                          <a:solidFill>
                            <a:srgbClr val="000000"/>
                          </a:solidFill>
                          <a:effectLst/>
                          <a:uFillTx/>
                          <a:latin typeface="Calibri"/>
                        </a:rPr>
                        <a:t>Data Structures in Java</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t">
                      <a:noAutofit/>
                    </a:bodyPr>
                    <a:p>
                      <a:pPr defTabSz="457200">
                        <a:lnSpc>
                          <a:spcPct val="100000"/>
                        </a:lnSpc>
                      </a:pPr>
                      <a:r>
                        <a:rPr lang="en-US" sz="1000" b="0" u="none" strike="noStrike">
                          <a:solidFill>
                            <a:srgbClr val="000000"/>
                          </a:solidFill>
                          <a:effectLst/>
                          <a:uFillTx/>
                          <a:latin typeface="Calibri"/>
                        </a:rPr>
                        <a:t>Lists, searching, sorting, collections and structured data handling concepts.</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t">
                      <a:noAutofit/>
                    </a:bodyPr>
                    <a:p>
                      <a:pPr defTabSz="457200">
                        <a:lnSpc>
                          <a:spcPct val="100000"/>
                        </a:lnSpc>
                      </a:pPr>
                      <a:r>
                        <a:rPr lang="en-US" sz="1000" b="0" u="none" strike="noStrike">
                          <a:solidFill>
                            <a:srgbClr val="000000"/>
                          </a:solidFill>
                          <a:effectLst/>
                          <a:uFillTx/>
                          <a:latin typeface="Calibri"/>
                        </a:rPr>
                        <a:t>Item / Claim Handling</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86240">
                <a:tc>
                  <a:txBody>
                    <a:bodyPr lIns="73080" rIns="73080" anchor="t">
                      <a:noAutofit/>
                    </a:bodyPr>
                    <a:p>
                      <a:pPr defTabSz="457200">
                        <a:lnSpc>
                          <a:spcPct val="100000"/>
                        </a:lnSpc>
                      </a:pPr>
                      <a:r>
                        <a:rPr lang="en-US" sz="1000" b="1" u="none" strike="noStrike">
                          <a:solidFill>
                            <a:srgbClr val="000000"/>
                          </a:solidFill>
                          <a:effectLst/>
                          <a:uFillTx/>
                          <a:latin typeface="Calibri"/>
                        </a:rPr>
                        <a:t>OOPs with Java</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t">
                      <a:noAutofit/>
                    </a:bodyPr>
                    <a:p>
                      <a:pPr defTabSz="457200">
                        <a:lnSpc>
                          <a:spcPct val="100000"/>
                        </a:lnSpc>
                      </a:pPr>
                      <a:r>
                        <a:rPr lang="en-US" sz="1000" b="0" u="none" strike="noStrike">
                          <a:solidFill>
                            <a:srgbClr val="000000"/>
                          </a:solidFill>
                          <a:effectLst/>
                          <a:uFillTx/>
                          <a:latin typeface="Calibri"/>
                        </a:rPr>
                        <a:t>Classes, objects, encapsulation and modular design principles reflected in the Java implementation.</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t">
                      <a:noAutofit/>
                    </a:bodyPr>
                    <a:p>
                      <a:pPr defTabSz="457200">
                        <a:lnSpc>
                          <a:spcPct val="100000"/>
                        </a:lnSpc>
                      </a:pPr>
                      <a:r>
                        <a:rPr lang="en-US" sz="1000" b="0" u="none" strike="noStrike">
                          <a:solidFill>
                            <a:srgbClr val="000000"/>
                          </a:solidFill>
                          <a:effectLst/>
                          <a:uFillTx/>
                          <a:latin typeface="Calibri"/>
                        </a:rPr>
                        <a:t>Models / Controllers</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86240">
                <a:tc>
                  <a:txBody>
                    <a:bodyPr lIns="73080" rIns="73080" anchor="t">
                      <a:noAutofit/>
                    </a:bodyPr>
                    <a:p>
                      <a:pPr defTabSz="457200">
                        <a:lnSpc>
                          <a:spcPct val="100000"/>
                        </a:lnSpc>
                      </a:pPr>
                      <a:r>
                        <a:rPr lang="en-US" sz="1000" b="1" u="none" strike="noStrike">
                          <a:solidFill>
                            <a:srgbClr val="000000"/>
                          </a:solidFill>
                          <a:effectLst/>
                          <a:uFillTx/>
                          <a:latin typeface="Calibri"/>
                        </a:rPr>
                        <a:t>Operating Systems</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t">
                      <a:noAutofit/>
                    </a:bodyPr>
                    <a:p>
                      <a:pPr defTabSz="457200">
                        <a:lnSpc>
                          <a:spcPct val="100000"/>
                        </a:lnSpc>
                      </a:pPr>
                      <a:r>
                        <a:rPr lang="en-US" sz="1000" b="0" u="none" strike="noStrike">
                          <a:solidFill>
                            <a:srgbClr val="000000"/>
                          </a:solidFill>
                          <a:effectLst/>
                          <a:uFillTx/>
                          <a:latin typeface="Calibri"/>
                        </a:rPr>
                        <a:t>Application/server execution, file handling for uploads, and process/runtime concepts.</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t">
                      <a:noAutofit/>
                    </a:bodyPr>
                    <a:p>
                      <a:pPr defTabSz="457200">
                        <a:lnSpc>
                          <a:spcPct val="100000"/>
                        </a:lnSpc>
                      </a:pPr>
                      <a:r>
                        <a:rPr lang="en-US" sz="1000" b="0" u="none" strike="noStrike">
                          <a:solidFill>
                            <a:srgbClr val="000000"/>
                          </a:solidFill>
                          <a:effectLst/>
                          <a:uFillTx/>
                          <a:latin typeface="Calibri"/>
                        </a:rPr>
                        <a:t>Javalin Application</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86240">
                <a:tc>
                  <a:txBody>
                    <a:bodyPr lIns="73080" rIns="73080" anchor="t">
                      <a:noAutofit/>
                    </a:bodyPr>
                    <a:p>
                      <a:pPr defTabSz="457200">
                        <a:lnSpc>
                          <a:spcPct val="100000"/>
                        </a:lnSpc>
                      </a:pPr>
                      <a:r>
                        <a:rPr lang="en-US" sz="1000" b="1" u="none" strike="noStrike">
                          <a:solidFill>
                            <a:srgbClr val="000000"/>
                          </a:solidFill>
                          <a:effectLst/>
                          <a:uFillTx/>
                          <a:latin typeface="Calibri"/>
                        </a:rPr>
                        <a:t>DBMS</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t">
                      <a:noAutofit/>
                    </a:bodyPr>
                    <a:p>
                      <a:pPr defTabSz="457200">
                        <a:lnSpc>
                          <a:spcPct val="100000"/>
                        </a:lnSpc>
                      </a:pPr>
                      <a:r>
                        <a:rPr lang="en-US" sz="1000" b="0" u="none" strike="noStrike">
                          <a:solidFill>
                            <a:srgbClr val="000000"/>
                          </a:solidFill>
                          <a:effectLst/>
                          <a:uFillTx/>
                          <a:latin typeface="Calibri"/>
                        </a:rPr>
                        <a:t>Relational tables, SQL CRUD operations, database connectivity and persistent storage.</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t">
                      <a:noAutofit/>
                    </a:bodyPr>
                    <a:p>
                      <a:pPr defTabSz="457200">
                        <a:lnSpc>
                          <a:spcPct val="100000"/>
                        </a:lnSpc>
                      </a:pPr>
                      <a:r>
                        <a:rPr lang="en-US" sz="1000" b="0" u="none" strike="noStrike">
                          <a:solidFill>
                            <a:srgbClr val="000000"/>
                          </a:solidFill>
                          <a:effectLst/>
                          <a:uFillTx/>
                          <a:latin typeface="Calibri"/>
                        </a:rPr>
                        <a:t>SQLite / DAO Layer</a:t>
                      </a:r>
                      <a:endParaRPr lang="en-IN" sz="1000" b="0" u="none" strike="noStrike">
                        <a:solidFill>
                          <a:srgbClr val="000000"/>
                        </a:solidFill>
                        <a:effectLst/>
                        <a:uFillTx/>
                        <a:latin typeface="Arial"/>
                      </a:endParaRPr>
                    </a:p>
                  </a:txBody>
                  <a:tcPr anchor="t"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96" name="Rounded Rectangle 4"/>
          <p:cNvSpPr/>
          <p:nvPr/>
        </p:nvSpPr>
        <p:spPr>
          <a:xfrm>
            <a:off x="914400" y="5303520"/>
            <a:ext cx="10332360" cy="59400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200" b="1" u="none" strike="noStrike">
                <a:solidFill>
                  <a:srgbClr val="143769"/>
                </a:solidFill>
                <a:effectLst/>
                <a:uFillTx/>
                <a:latin typeface="Calibri"/>
              </a:rPr>
              <a:t>Integration</a:t>
            </a:r>
            <a:endParaRPr lang="en-IN" sz="1200" b="0" u="none" strike="noStrike">
              <a:solidFill>
                <a:srgbClr val="000000"/>
              </a:solidFill>
              <a:effectLst/>
              <a:uFillTx/>
              <a:latin typeface="Arial"/>
            </a:endParaRPr>
          </a:p>
          <a:p>
            <a:pPr defTabSz="457200">
              <a:lnSpc>
                <a:spcPct val="100000"/>
              </a:lnSpc>
            </a:pPr>
            <a:r>
              <a:rPr lang="en-US" sz="1000" b="0" u="none" strike="noStrike">
                <a:solidFill>
                  <a:srgbClr val="000000"/>
                </a:solidFill>
                <a:effectLst/>
                <a:uFillTx/>
                <a:latin typeface="Calibri"/>
              </a:rPr>
              <a:t>The project combines programming, database, operating-system, and object-oriented concepts in one working application.</a:t>
            </a:r>
            <a:endParaRPr lang="en-IN" sz="1000" b="0" u="none" strike="noStrike">
              <a:solidFill>
                <a:srgbClr val="000000"/>
              </a:solidFill>
              <a:effectLst/>
              <a:uFillTx/>
              <a:latin typeface="Arial"/>
            </a:endParaRPr>
          </a:p>
        </p:txBody>
      </p:sp>
      <p:sp>
        <p:nvSpPr>
          <p:cNvPr id="97" name="TextBox 5"/>
          <p:cNvSpPr/>
          <p:nvPr/>
        </p:nvSpPr>
        <p:spPr>
          <a:xfrm>
            <a:off x="320040" y="6510600"/>
            <a:ext cx="3012840" cy="1969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700" b="0" u="none" strike="noStrike">
                <a:solidFill>
                  <a:srgbClr val="5A5A5A"/>
                </a:solidFill>
                <a:effectLst/>
                <a:uFillTx/>
                <a:latin typeface="Calibri"/>
                <a:ea typeface="Microsoft YaHei"/>
              </a:rPr>
              <a:t>Department of </a:t>
            </a:r>
            <a:r>
              <a:rPr lang="en-US" sz="700" b="0" u="none" strike="noStrike">
                <a:solidFill>
                  <a:srgbClr val="5A5A5A"/>
                </a:solidFill>
                <a:effectLst/>
                <a:uFillTx/>
                <a:latin typeface="Calibri"/>
              </a:rPr>
              <a:t> Computer Application  | Graphic Era (Deemed to be University)</a:t>
            </a:r>
            <a:endParaRPr lang="en-IN" sz="700" b="0" u="none" strike="noStrike">
              <a:solidFill>
                <a:srgbClr val="000000"/>
              </a:solidFill>
              <a:effectLst/>
              <a:uFillTx/>
              <a:latin typeface="Arial"/>
            </a:endParaRPr>
          </a:p>
        </p:txBody>
      </p:sp>
      <p:sp>
        <p:nvSpPr>
          <p:cNvPr id="98" name="TextBox 6"/>
          <p:cNvSpPr/>
          <p:nvPr/>
        </p:nvSpPr>
        <p:spPr>
          <a:xfrm>
            <a:off x="10652760" y="6510600"/>
            <a:ext cx="1096920" cy="20088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700" b="0" u="none" strike="noStrike">
                <a:solidFill>
                  <a:srgbClr val="5A5A5A"/>
                </a:solidFill>
                <a:effectLst/>
                <a:uFillTx/>
                <a:latin typeface="Calibri"/>
              </a:rPr>
              <a:t>6/10</a:t>
            </a:r>
            <a:endParaRPr lang="en-IN"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xtBox 1"/>
          <p:cNvSpPr/>
          <p:nvPr/>
        </p:nvSpPr>
        <p:spPr>
          <a:xfrm>
            <a:off x="411480" y="228600"/>
            <a:ext cx="10789560" cy="411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500" b="1" u="none" strike="noStrike">
                <a:solidFill>
                  <a:srgbClr val="143769"/>
                </a:solidFill>
                <a:effectLst/>
                <a:uFillTx/>
                <a:latin typeface="Calibri"/>
              </a:rPr>
              <a:t>System Architecture / Workflow</a:t>
            </a:r>
            <a:endParaRPr lang="en-IN" sz="2500" b="0" u="none" strike="noStrike">
              <a:solidFill>
                <a:srgbClr val="000000"/>
              </a:solidFill>
              <a:effectLst/>
              <a:uFillTx/>
              <a:latin typeface="Arial"/>
            </a:endParaRPr>
          </a:p>
        </p:txBody>
      </p:sp>
      <p:sp>
        <p:nvSpPr>
          <p:cNvPr id="100" name="Rectangle 2"/>
          <p:cNvSpPr/>
          <p:nvPr/>
        </p:nvSpPr>
        <p:spPr>
          <a:xfrm>
            <a:off x="411480" y="722520"/>
            <a:ext cx="11292480" cy="1800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US" sz="1800" b="0" u="none" strike="noStrike">
              <a:solidFill>
                <a:schemeClr val="lt1"/>
              </a:solidFill>
              <a:effectLst/>
              <a:uFillTx/>
              <a:latin typeface="Calibri"/>
            </a:endParaRPr>
          </a:p>
        </p:txBody>
      </p:sp>
      <p:sp>
        <p:nvSpPr>
          <p:cNvPr id="101" name="Rectangle 3"/>
          <p:cNvSpPr/>
          <p:nvPr/>
        </p:nvSpPr>
        <p:spPr>
          <a:xfrm>
            <a:off x="3886200" y="960120"/>
            <a:ext cx="4434480" cy="566640"/>
          </a:xfrm>
          <a:prstGeom prst="rect">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300" b="1" u="none" strike="noStrike">
                <a:solidFill>
                  <a:srgbClr val="143769"/>
                </a:solidFill>
                <a:effectLst/>
                <a:uFillTx/>
                <a:latin typeface="Calibri"/>
              </a:rPr>
              <a:t>USER / BROWSER</a:t>
            </a:r>
            <a:endParaRPr lang="en-IN" sz="1300" b="0" u="none" strike="noStrike">
              <a:solidFill>
                <a:srgbClr val="000000"/>
              </a:solidFill>
              <a:effectLst/>
              <a:uFillTx/>
              <a:latin typeface="Arial"/>
            </a:endParaRPr>
          </a:p>
        </p:txBody>
      </p:sp>
      <p:sp>
        <p:nvSpPr>
          <p:cNvPr id="102" name="Rectangle 4"/>
          <p:cNvSpPr/>
          <p:nvPr/>
        </p:nvSpPr>
        <p:spPr>
          <a:xfrm>
            <a:off x="2743200" y="1783080"/>
            <a:ext cx="6720480" cy="639720"/>
          </a:xfrm>
          <a:prstGeom prst="rect">
            <a:avLst/>
          </a:prstGeom>
          <a:solidFill>
            <a:srgbClr val="FFFFFF"/>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143769"/>
                </a:solidFill>
                <a:effectLst/>
                <a:uFillTx/>
                <a:latin typeface="Calibri"/>
              </a:rPr>
              <a:t>WEB INTERFACE — HTML • CSS • JavaScript • Pebble</a:t>
            </a:r>
            <a:endParaRPr lang="en-IN" sz="1200" b="0" u="none" strike="noStrike">
              <a:solidFill>
                <a:srgbClr val="000000"/>
              </a:solidFill>
              <a:effectLst/>
              <a:uFillTx/>
              <a:latin typeface="Arial"/>
            </a:endParaRPr>
          </a:p>
        </p:txBody>
      </p:sp>
      <p:cxnSp>
        <p:nvCxnSpPr>
          <p:cNvPr id="103" name="Connector 5"/>
          <p:cNvCxnSpPr/>
          <p:nvPr/>
        </p:nvCxnSpPr>
        <p:spPr>
          <a:xfrm>
            <a:off x="6108120" y="1526760"/>
            <a:ext cx="360" cy="256680"/>
          </a:xfrm>
          <a:prstGeom prst="straightConnector1">
            <a:avLst/>
          </a:prstGeom>
          <a:ln w="19050">
            <a:solidFill>
              <a:srgbClr val="143769"/>
            </a:solidFill>
            <a:round/>
          </a:ln>
        </p:spPr>
      </p:cxnSp>
      <p:sp>
        <p:nvSpPr>
          <p:cNvPr id="104" name="Rectangle 6"/>
          <p:cNvSpPr/>
          <p:nvPr/>
        </p:nvSpPr>
        <p:spPr>
          <a:xfrm>
            <a:off x="914400" y="2743200"/>
            <a:ext cx="10332360" cy="658080"/>
          </a:xfrm>
          <a:prstGeom prst="rect">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143769"/>
                </a:solidFill>
                <a:effectLst/>
                <a:uFillTx/>
                <a:latin typeface="Calibri"/>
              </a:rPr>
              <a:t>JAVALIN CONTROLLERS — Auth • Main • Item • Claim • Admin • Notification</a:t>
            </a:r>
            <a:endParaRPr lang="en-IN" sz="1200" b="0" u="none" strike="noStrike">
              <a:solidFill>
                <a:srgbClr val="000000"/>
              </a:solidFill>
              <a:effectLst/>
              <a:uFillTx/>
              <a:latin typeface="Arial"/>
            </a:endParaRPr>
          </a:p>
        </p:txBody>
      </p:sp>
      <p:cxnSp>
        <p:nvCxnSpPr>
          <p:cNvPr id="105" name="Connector 7"/>
          <p:cNvCxnSpPr/>
          <p:nvPr/>
        </p:nvCxnSpPr>
        <p:spPr>
          <a:xfrm>
            <a:off x="6108120" y="2423160"/>
            <a:ext cx="360" cy="320400"/>
          </a:xfrm>
          <a:prstGeom prst="straightConnector1">
            <a:avLst/>
          </a:prstGeom>
          <a:ln w="19050">
            <a:solidFill>
              <a:srgbClr val="143769"/>
            </a:solidFill>
            <a:round/>
          </a:ln>
        </p:spPr>
      </p:cxnSp>
      <p:sp>
        <p:nvSpPr>
          <p:cNvPr id="106" name="Rectangle 8"/>
          <p:cNvSpPr/>
          <p:nvPr/>
        </p:nvSpPr>
        <p:spPr>
          <a:xfrm>
            <a:off x="1920240" y="3657600"/>
            <a:ext cx="8320680" cy="594000"/>
          </a:xfrm>
          <a:prstGeom prst="rect">
            <a:avLst/>
          </a:prstGeom>
          <a:solidFill>
            <a:srgbClr val="FFFFFF"/>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100" b="1" u="none" strike="noStrike">
                <a:solidFill>
                  <a:srgbClr val="143769"/>
                </a:solidFill>
                <a:effectLst/>
                <a:uFillTx/>
                <a:latin typeface="Calibri"/>
              </a:rPr>
              <a:t>SERVICE / SECURITY — StatisticsService • SecurityUtil • BCrypt • Jackson • Logging</a:t>
            </a:r>
            <a:endParaRPr lang="en-IN" sz="1100" b="0" u="none" strike="noStrike">
              <a:solidFill>
                <a:srgbClr val="000000"/>
              </a:solidFill>
              <a:effectLst/>
              <a:uFillTx/>
              <a:latin typeface="Arial"/>
            </a:endParaRPr>
          </a:p>
        </p:txBody>
      </p:sp>
      <p:cxnSp>
        <p:nvCxnSpPr>
          <p:cNvPr id="107" name="Connector 9"/>
          <p:cNvCxnSpPr/>
          <p:nvPr/>
        </p:nvCxnSpPr>
        <p:spPr>
          <a:xfrm>
            <a:off x="6108120" y="3401280"/>
            <a:ext cx="360" cy="256680"/>
          </a:xfrm>
          <a:prstGeom prst="straightConnector1">
            <a:avLst/>
          </a:prstGeom>
          <a:ln w="19050">
            <a:solidFill>
              <a:srgbClr val="143769"/>
            </a:solidFill>
            <a:round/>
          </a:ln>
        </p:spPr>
      </p:cxnSp>
      <p:sp>
        <p:nvSpPr>
          <p:cNvPr id="108" name="Rectangle 10"/>
          <p:cNvSpPr/>
          <p:nvPr/>
        </p:nvSpPr>
        <p:spPr>
          <a:xfrm>
            <a:off x="1920240" y="4526280"/>
            <a:ext cx="8320680" cy="594000"/>
          </a:xfrm>
          <a:prstGeom prst="rect">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100" b="1" u="none" strike="noStrike">
                <a:solidFill>
                  <a:srgbClr val="143769"/>
                </a:solidFill>
                <a:effectLst/>
                <a:uFillTx/>
                <a:latin typeface="Calibri"/>
              </a:rPr>
              <a:t>DAO LAYER — UserDao • ItemDao • ClaimDao • NotificationDao</a:t>
            </a:r>
            <a:endParaRPr lang="en-IN" sz="1100" b="0" u="none" strike="noStrike">
              <a:solidFill>
                <a:srgbClr val="000000"/>
              </a:solidFill>
              <a:effectLst/>
              <a:uFillTx/>
              <a:latin typeface="Arial"/>
            </a:endParaRPr>
          </a:p>
        </p:txBody>
      </p:sp>
      <p:cxnSp>
        <p:nvCxnSpPr>
          <p:cNvPr id="109" name="Connector 11"/>
          <p:cNvCxnSpPr/>
          <p:nvPr/>
        </p:nvCxnSpPr>
        <p:spPr>
          <a:xfrm>
            <a:off x="6108120" y="4251960"/>
            <a:ext cx="360" cy="274680"/>
          </a:xfrm>
          <a:prstGeom prst="straightConnector1">
            <a:avLst/>
          </a:prstGeom>
          <a:ln w="19050">
            <a:solidFill>
              <a:srgbClr val="143769"/>
            </a:solidFill>
            <a:round/>
          </a:ln>
        </p:spPr>
      </p:cxnSp>
      <p:sp>
        <p:nvSpPr>
          <p:cNvPr id="110" name="Rectangle 12"/>
          <p:cNvSpPr/>
          <p:nvPr/>
        </p:nvSpPr>
        <p:spPr>
          <a:xfrm>
            <a:off x="3246120" y="5394960"/>
            <a:ext cx="5668920" cy="594000"/>
          </a:xfrm>
          <a:prstGeom prst="rect">
            <a:avLst/>
          </a:prstGeom>
          <a:solidFill>
            <a:srgbClr val="FFFFFF"/>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143769"/>
                </a:solidFill>
                <a:effectLst/>
                <a:uFillTx/>
                <a:latin typeface="Calibri"/>
              </a:rPr>
              <a:t>SQLITE DATABASE — SQLite JDBC</a:t>
            </a:r>
            <a:endParaRPr lang="en-IN" sz="1200" b="0" u="none" strike="noStrike">
              <a:solidFill>
                <a:srgbClr val="000000"/>
              </a:solidFill>
              <a:effectLst/>
              <a:uFillTx/>
              <a:latin typeface="Arial"/>
            </a:endParaRPr>
          </a:p>
        </p:txBody>
      </p:sp>
      <p:cxnSp>
        <p:nvCxnSpPr>
          <p:cNvPr id="111" name="Connector 13"/>
          <p:cNvCxnSpPr/>
          <p:nvPr/>
        </p:nvCxnSpPr>
        <p:spPr>
          <a:xfrm>
            <a:off x="6108120" y="5120640"/>
            <a:ext cx="360" cy="274680"/>
          </a:xfrm>
          <a:prstGeom prst="straightConnector1">
            <a:avLst/>
          </a:prstGeom>
          <a:ln w="19050">
            <a:solidFill>
              <a:srgbClr val="143769"/>
            </a:solidFill>
            <a:round/>
          </a:ln>
        </p:spPr>
      </p:cxnSp>
      <p:sp>
        <p:nvSpPr>
          <p:cNvPr id="112" name="TextBox 14"/>
          <p:cNvSpPr/>
          <p:nvPr/>
        </p:nvSpPr>
        <p:spPr>
          <a:xfrm>
            <a:off x="320040" y="6510600"/>
            <a:ext cx="3012840" cy="1969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700" b="0" u="none" strike="noStrike">
                <a:solidFill>
                  <a:srgbClr val="5A5A5A"/>
                </a:solidFill>
                <a:effectLst/>
                <a:uFillTx/>
                <a:latin typeface="Calibri"/>
                <a:ea typeface="Microsoft YaHei"/>
              </a:rPr>
              <a:t>Department of </a:t>
            </a:r>
            <a:r>
              <a:rPr lang="en-US" sz="700" b="0" u="none" strike="noStrike">
                <a:solidFill>
                  <a:srgbClr val="5A5A5A"/>
                </a:solidFill>
                <a:effectLst/>
                <a:uFillTx/>
                <a:latin typeface="Calibri"/>
              </a:rPr>
              <a:t> Computer Application  | Graphic Era (Deemed to be University)</a:t>
            </a:r>
            <a:endParaRPr lang="en-IN" sz="700" b="0" u="none" strike="noStrike">
              <a:solidFill>
                <a:srgbClr val="000000"/>
              </a:solidFill>
              <a:effectLst/>
              <a:uFillTx/>
              <a:latin typeface="Arial"/>
            </a:endParaRPr>
          </a:p>
        </p:txBody>
      </p:sp>
      <p:sp>
        <p:nvSpPr>
          <p:cNvPr id="113" name="TextBox 15"/>
          <p:cNvSpPr/>
          <p:nvPr/>
        </p:nvSpPr>
        <p:spPr>
          <a:xfrm>
            <a:off x="10652760" y="6510600"/>
            <a:ext cx="1096920" cy="20088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700" b="0" u="none" strike="noStrike">
                <a:solidFill>
                  <a:srgbClr val="5A5A5A"/>
                </a:solidFill>
                <a:effectLst/>
                <a:uFillTx/>
                <a:latin typeface="Calibri"/>
              </a:rPr>
              <a:t>7/10</a:t>
            </a:r>
            <a:endParaRPr lang="en-IN"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TextBox 1"/>
          <p:cNvSpPr/>
          <p:nvPr/>
        </p:nvSpPr>
        <p:spPr>
          <a:xfrm>
            <a:off x="411480" y="228600"/>
            <a:ext cx="10789560" cy="411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500" b="1" u="none" strike="noStrike">
                <a:solidFill>
                  <a:srgbClr val="143769"/>
                </a:solidFill>
                <a:effectLst/>
                <a:uFillTx/>
                <a:latin typeface="Calibri"/>
              </a:rPr>
              <a:t>Technology Stack &amp; Methodology</a:t>
            </a:r>
            <a:endParaRPr lang="en-IN" sz="2500" b="0" u="none" strike="noStrike">
              <a:solidFill>
                <a:srgbClr val="000000"/>
              </a:solidFill>
              <a:effectLst/>
              <a:uFillTx/>
              <a:latin typeface="Arial"/>
            </a:endParaRPr>
          </a:p>
        </p:txBody>
      </p:sp>
      <p:sp>
        <p:nvSpPr>
          <p:cNvPr id="115" name="Rectangle 2"/>
          <p:cNvSpPr/>
          <p:nvPr/>
        </p:nvSpPr>
        <p:spPr>
          <a:xfrm>
            <a:off x="411480" y="722520"/>
            <a:ext cx="11292480" cy="1800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US" sz="1800" b="0" u="none" strike="noStrike">
              <a:solidFill>
                <a:schemeClr val="lt1"/>
              </a:solidFill>
              <a:effectLst/>
              <a:uFillTx/>
              <a:latin typeface="Calibri"/>
            </a:endParaRPr>
          </a:p>
        </p:txBody>
      </p:sp>
      <p:sp>
        <p:nvSpPr>
          <p:cNvPr id="116" name="Rounded Rectangle 3"/>
          <p:cNvSpPr/>
          <p:nvPr/>
        </p:nvSpPr>
        <p:spPr>
          <a:xfrm>
            <a:off x="457200" y="914400"/>
            <a:ext cx="5486040" cy="438876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Technology Stack</a:t>
            </a:r>
            <a:endParaRPr lang="en-IN" sz="13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Calibri"/>
              </a:rPr>
              <a:t>Programming / Backend: Java 21, Javalin 6.3.0</a:t>
            </a:r>
            <a:br>
              <a:rPr sz="1100"/>
            </a:br>
            <a:r>
              <a:rPr lang="en-US" sz="1100" b="0" u="none" strike="noStrike">
                <a:solidFill>
                  <a:srgbClr val="000000"/>
                </a:solidFill>
                <a:effectLst/>
                <a:uFillTx/>
                <a:latin typeface="Calibri"/>
              </a:rPr>
              <a:t>Build &amp; Packaging: Apache Maven</a:t>
            </a:r>
            <a:br>
              <a:rPr sz="1100"/>
            </a:br>
            <a:r>
              <a:rPr lang="en-US" sz="1100" b="0" u="none" strike="noStrike">
                <a:solidFill>
                  <a:srgbClr val="000000"/>
                </a:solidFill>
                <a:effectLst/>
                <a:uFillTx/>
                <a:latin typeface="Calibri"/>
              </a:rPr>
              <a:t>Frontend: HTML, CSS, JavaScript</a:t>
            </a:r>
            <a:br>
              <a:rPr sz="1100"/>
            </a:br>
            <a:r>
              <a:rPr lang="en-US" sz="1100" b="0" u="none" strike="noStrike">
                <a:solidFill>
                  <a:srgbClr val="000000"/>
                </a:solidFill>
                <a:effectLst/>
                <a:uFillTx/>
                <a:latin typeface="Calibri"/>
              </a:rPr>
              <a:t>Template Engine: Pebble 3.2.2</a:t>
            </a:r>
            <a:br>
              <a:rPr sz="1100"/>
            </a:br>
            <a:r>
              <a:rPr lang="en-US" sz="1100" b="0" u="none" strike="noStrike">
                <a:solidFill>
                  <a:srgbClr val="000000"/>
                </a:solidFill>
                <a:effectLst/>
                <a:uFillTx/>
                <a:latin typeface="Calibri"/>
              </a:rPr>
              <a:t>Database: SQLite 3.46.0.0 with SQLite JDBC</a:t>
            </a:r>
            <a:br>
              <a:rPr sz="1100"/>
            </a:br>
            <a:r>
              <a:rPr lang="en-US" sz="1100" b="0" u="none" strike="noStrike">
                <a:solidFill>
                  <a:srgbClr val="000000"/>
                </a:solidFill>
                <a:effectLst/>
                <a:uFillTx/>
                <a:latin typeface="Calibri"/>
              </a:rPr>
              <a:t>Security: BCrypt 0.10.2, SecurityUtil</a:t>
            </a:r>
            <a:br>
              <a:rPr sz="1100"/>
            </a:br>
            <a:r>
              <a:rPr lang="en-US" sz="1100" b="0" u="none" strike="noStrike">
                <a:solidFill>
                  <a:srgbClr val="000000"/>
                </a:solidFill>
                <a:effectLst/>
                <a:uFillTx/>
                <a:latin typeface="Calibri"/>
              </a:rPr>
              <a:t>JSON: Jackson Databind 2.17.2</a:t>
            </a:r>
            <a:br>
              <a:rPr sz="1100"/>
            </a:br>
            <a:r>
              <a:rPr lang="en-US" sz="1100" b="0" u="none" strike="noStrike">
                <a:solidFill>
                  <a:srgbClr val="000000"/>
                </a:solidFill>
                <a:effectLst/>
                <a:uFillTx/>
                <a:latin typeface="Calibri"/>
              </a:rPr>
              <a:t>Logging: SLF4J Simple 2.0.13</a:t>
            </a:r>
            <a:br>
              <a:rPr sz="1100"/>
            </a:br>
            <a:r>
              <a:rPr lang="en-US" sz="1100" b="0" u="none" strike="noStrike">
                <a:solidFill>
                  <a:srgbClr val="000000"/>
                </a:solidFill>
                <a:effectLst/>
                <a:uFillTx/>
                <a:latin typeface="Calibri"/>
              </a:rPr>
              <a:t>Version Control: Git / GitHub</a:t>
            </a:r>
            <a:endParaRPr lang="en-IN" sz="1100" b="0" u="none" strike="noStrike">
              <a:solidFill>
                <a:srgbClr val="000000"/>
              </a:solidFill>
              <a:effectLst/>
              <a:uFillTx/>
              <a:latin typeface="Arial"/>
            </a:endParaRPr>
          </a:p>
        </p:txBody>
      </p:sp>
      <p:sp>
        <p:nvSpPr>
          <p:cNvPr id="117" name="Rounded Rectangle 4"/>
          <p:cNvSpPr/>
          <p:nvPr/>
        </p:nvSpPr>
        <p:spPr>
          <a:xfrm>
            <a:off x="6217920" y="914400"/>
            <a:ext cx="5440320" cy="438876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Development Methodology</a:t>
            </a:r>
            <a:endParaRPr lang="en-IN" sz="13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Calibri"/>
              </a:rPr>
              <a:t>1. Requirement analysis</a:t>
            </a:r>
            <a:br>
              <a:rPr sz="1100"/>
            </a:br>
            <a:r>
              <a:rPr lang="en-US" sz="1100" b="0" u="none" strike="noStrike">
                <a:solidFill>
                  <a:srgbClr val="000000"/>
                </a:solidFill>
                <a:effectLst/>
                <a:uFillTx/>
                <a:latin typeface="Calibri"/>
              </a:rPr>
              <a:t>2. System and database design</a:t>
            </a:r>
            <a:br>
              <a:rPr sz="1100"/>
            </a:br>
            <a:r>
              <a:rPr lang="en-US" sz="1100" b="0" u="none" strike="noStrike">
                <a:solidFill>
                  <a:srgbClr val="000000"/>
                </a:solidFill>
                <a:effectLst/>
                <a:uFillTx/>
                <a:latin typeface="Calibri"/>
              </a:rPr>
              <a:t>3. Layered backend implementation</a:t>
            </a:r>
            <a:br>
              <a:rPr sz="1100"/>
            </a:br>
            <a:r>
              <a:rPr lang="en-US" sz="1100" b="0" u="none" strike="noStrike">
                <a:solidFill>
                  <a:srgbClr val="000000"/>
                </a:solidFill>
                <a:effectLst/>
                <a:uFillTx/>
                <a:latin typeface="Calibri"/>
              </a:rPr>
              <a:t>4. Frontend and template integration</a:t>
            </a:r>
            <a:br>
              <a:rPr sz="1100"/>
            </a:br>
            <a:r>
              <a:rPr lang="en-US" sz="1100" b="0" u="none" strike="noStrike">
                <a:solidFill>
                  <a:srgbClr val="000000"/>
                </a:solidFill>
                <a:effectLst/>
                <a:uFillTx/>
                <a:latin typeface="Calibri"/>
              </a:rPr>
              <a:t>5. Authentication and security implementation</a:t>
            </a:r>
            <a:br>
              <a:rPr sz="1100"/>
            </a:br>
            <a:r>
              <a:rPr lang="en-US" sz="1100" b="0" u="none" strike="noStrike">
                <a:solidFill>
                  <a:srgbClr val="000000"/>
                </a:solidFill>
                <a:effectLst/>
                <a:uFillTx/>
                <a:latin typeface="Calibri"/>
              </a:rPr>
              <a:t>6. Testing of major workflows</a:t>
            </a:r>
            <a:br>
              <a:rPr sz="1100"/>
            </a:br>
            <a:r>
              <a:rPr lang="en-US" sz="1100" b="0" u="none" strike="noStrike">
                <a:solidFill>
                  <a:srgbClr val="000000"/>
                </a:solidFill>
                <a:effectLst/>
                <a:uFillTx/>
                <a:latin typeface="Calibri"/>
              </a:rPr>
              <a:t>7. Maven packaging and final review</a:t>
            </a:r>
            <a:br>
              <a:rPr sz="1100"/>
            </a:br>
            <a:br>
              <a:rPr sz="1100"/>
            </a:br>
            <a:r>
              <a:rPr lang="en-US" sz="1100" b="0" u="none" strike="noStrike">
                <a:solidFill>
                  <a:srgbClr val="000000"/>
                </a:solidFill>
                <a:effectLst/>
                <a:uFillTx/>
                <a:latin typeface="Calibri"/>
              </a:rPr>
              <a:t>Technology selection: Java/Javalin keeps the backend lightweight, SQLite provides simple persistent storage, and the Controller–Service–DAO–Model structure keeps the application organised.</a:t>
            </a:r>
            <a:endParaRPr lang="en-IN" sz="1100" b="0" u="none" strike="noStrike">
              <a:solidFill>
                <a:srgbClr val="000000"/>
              </a:solidFill>
              <a:effectLst/>
              <a:uFillTx/>
              <a:latin typeface="Arial"/>
            </a:endParaRPr>
          </a:p>
        </p:txBody>
      </p:sp>
      <p:sp>
        <p:nvSpPr>
          <p:cNvPr id="118" name="TextBox 5"/>
          <p:cNvSpPr/>
          <p:nvPr/>
        </p:nvSpPr>
        <p:spPr>
          <a:xfrm>
            <a:off x="320040" y="6510600"/>
            <a:ext cx="2993040" cy="1969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700" b="0" u="none" strike="noStrike">
                <a:solidFill>
                  <a:srgbClr val="5A5A5A"/>
                </a:solidFill>
                <a:effectLst/>
                <a:uFillTx/>
                <a:latin typeface="Calibri"/>
                <a:ea typeface="Microsoft YaHei"/>
              </a:rPr>
              <a:t>Department of </a:t>
            </a:r>
            <a:r>
              <a:rPr lang="en-US" sz="700" b="0" u="none" strike="noStrike">
                <a:solidFill>
                  <a:srgbClr val="5A5A5A"/>
                </a:solidFill>
                <a:effectLst/>
                <a:uFillTx/>
                <a:latin typeface="Calibri"/>
              </a:rPr>
              <a:t> Computer Application | Graphic Era (Deemed to be University)</a:t>
            </a:r>
            <a:endParaRPr lang="en-IN" sz="700" b="0" u="none" strike="noStrike">
              <a:solidFill>
                <a:srgbClr val="000000"/>
              </a:solidFill>
              <a:effectLst/>
              <a:uFillTx/>
              <a:latin typeface="Arial"/>
            </a:endParaRPr>
          </a:p>
        </p:txBody>
      </p:sp>
      <p:sp>
        <p:nvSpPr>
          <p:cNvPr id="119" name="TextBox 6"/>
          <p:cNvSpPr/>
          <p:nvPr/>
        </p:nvSpPr>
        <p:spPr>
          <a:xfrm>
            <a:off x="10652760" y="6510600"/>
            <a:ext cx="1096920" cy="20088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700" b="0" u="none" strike="noStrike">
                <a:solidFill>
                  <a:srgbClr val="5A5A5A"/>
                </a:solidFill>
                <a:effectLst/>
                <a:uFillTx/>
                <a:latin typeface="Calibri"/>
              </a:rPr>
              <a:t>8/10</a:t>
            </a:r>
            <a:endParaRPr lang="en-IN"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TextBox 1"/>
          <p:cNvSpPr/>
          <p:nvPr/>
        </p:nvSpPr>
        <p:spPr>
          <a:xfrm>
            <a:off x="411480" y="228600"/>
            <a:ext cx="10789560" cy="411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500" b="1" u="none" strike="noStrike">
                <a:solidFill>
                  <a:srgbClr val="143769"/>
                </a:solidFill>
                <a:effectLst/>
                <a:uFillTx/>
                <a:latin typeface="Calibri"/>
              </a:rPr>
              <a:t>Initial Progress &amp; Team Contribution</a:t>
            </a:r>
            <a:endParaRPr lang="en-IN" sz="2500" b="0" u="none" strike="noStrike">
              <a:solidFill>
                <a:srgbClr val="000000"/>
              </a:solidFill>
              <a:effectLst/>
              <a:uFillTx/>
              <a:latin typeface="Arial"/>
            </a:endParaRPr>
          </a:p>
        </p:txBody>
      </p:sp>
      <p:sp>
        <p:nvSpPr>
          <p:cNvPr id="121" name="Rectangle 2"/>
          <p:cNvSpPr/>
          <p:nvPr/>
        </p:nvSpPr>
        <p:spPr>
          <a:xfrm>
            <a:off x="411480" y="722520"/>
            <a:ext cx="11292480" cy="1800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US" sz="1800" b="0" u="none" strike="noStrike">
              <a:solidFill>
                <a:schemeClr val="lt1"/>
              </a:solidFill>
              <a:effectLst/>
              <a:uFillTx/>
              <a:latin typeface="Calibri"/>
            </a:endParaRPr>
          </a:p>
        </p:txBody>
      </p:sp>
      <p:sp>
        <p:nvSpPr>
          <p:cNvPr id="122" name="Rounded Rectangle 3"/>
          <p:cNvSpPr/>
          <p:nvPr/>
        </p:nvSpPr>
        <p:spPr>
          <a:xfrm>
            <a:off x="457200" y="914400"/>
            <a:ext cx="4251600" cy="480024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Progress Achieved</a:t>
            </a:r>
            <a:endParaRPr lang="en-IN" sz="13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Calibri"/>
              </a:rPr>
              <a:t>• Project requirements and workflow identified</a:t>
            </a:r>
            <a:br>
              <a:rPr sz="1100"/>
            </a:br>
            <a:r>
              <a:rPr lang="en-US" sz="1100" b="0" u="none" strike="noStrike">
                <a:solidFill>
                  <a:srgbClr val="000000"/>
                </a:solidFill>
                <a:effectLst/>
                <a:uFillTx/>
                <a:latin typeface="Calibri"/>
              </a:rPr>
              <a:t>• Javalin project architecture prepared</a:t>
            </a:r>
            <a:br>
              <a:rPr sz="1100"/>
            </a:br>
            <a:r>
              <a:rPr lang="en-US" sz="1100" b="0" u="none" strike="noStrike">
                <a:solidFill>
                  <a:srgbClr val="000000"/>
                </a:solidFill>
                <a:effectLst/>
                <a:uFillTx/>
                <a:latin typeface="Calibri"/>
              </a:rPr>
              <a:t>• SQLite database and DAO layer implemented</a:t>
            </a:r>
            <a:br>
              <a:rPr sz="1100"/>
            </a:br>
            <a:r>
              <a:rPr lang="en-US" sz="1100" b="0" u="none" strike="noStrike">
                <a:solidFill>
                  <a:srgbClr val="000000"/>
                </a:solidFill>
                <a:effectLst/>
                <a:uFillTx/>
                <a:latin typeface="Calibri"/>
              </a:rPr>
              <a:t>• Authentication and session access implemented</a:t>
            </a:r>
            <a:br>
              <a:rPr sz="1100"/>
            </a:br>
            <a:r>
              <a:rPr lang="en-US" sz="1100" b="0" u="none" strike="noStrike">
                <a:solidFill>
                  <a:srgbClr val="000000"/>
                </a:solidFill>
                <a:effectLst/>
                <a:uFillTx/>
                <a:latin typeface="Calibri"/>
              </a:rPr>
              <a:t>• Lost/found reporting and item management implemented</a:t>
            </a:r>
            <a:br>
              <a:rPr sz="1100"/>
            </a:br>
            <a:r>
              <a:rPr lang="en-US" sz="1100" b="0" u="none" strike="noStrike">
                <a:solidFill>
                  <a:srgbClr val="000000"/>
                </a:solidFill>
                <a:effectLst/>
                <a:uFillTx/>
                <a:latin typeface="Calibri"/>
              </a:rPr>
              <a:t>• Claims, admin review and notifications implemented</a:t>
            </a:r>
            <a:br>
              <a:rPr sz="1100"/>
            </a:br>
            <a:r>
              <a:rPr lang="en-US" sz="1100" b="0" u="none" strike="noStrike">
                <a:solidFill>
                  <a:srgbClr val="000000"/>
                </a:solidFill>
                <a:effectLst/>
                <a:uFillTx/>
                <a:latin typeface="Calibri"/>
              </a:rPr>
              <a:t>• Pebble templates and frontend pages integrated</a:t>
            </a:r>
            <a:br>
              <a:rPr sz="1100"/>
            </a:br>
            <a:r>
              <a:rPr lang="en-US" sz="1100" b="0" u="none" strike="noStrike">
                <a:solidFill>
                  <a:srgbClr val="000000"/>
                </a:solidFill>
                <a:effectLst/>
                <a:uFillTx/>
                <a:latin typeface="Calibri"/>
              </a:rPr>
              <a:t>• Statistics/admin reporting and Maven packaging prepared</a:t>
            </a:r>
            <a:endParaRPr lang="en-IN" sz="1100" b="0" u="none" strike="noStrike">
              <a:solidFill>
                <a:srgbClr val="000000"/>
              </a:solidFill>
              <a:effectLst/>
              <a:uFillTx/>
              <a:latin typeface="Arial"/>
            </a:endParaRPr>
          </a:p>
        </p:txBody>
      </p:sp>
      <p:graphicFrame>
        <p:nvGraphicFramePr>
          <p:cNvPr id="123" name="Table 4"/>
          <p:cNvGraphicFramePr/>
          <p:nvPr/>
        </p:nvGraphicFramePr>
        <p:xfrm>
          <a:off x="4983480" y="1051560"/>
          <a:ext cx="6629040" cy="4297320"/>
        </p:xfrm>
        <a:graphic>
          <a:graphicData uri="http://schemas.openxmlformats.org/drawingml/2006/table">
            <a:tbl>
              <a:tblPr/>
              <a:tblGrid>
                <a:gridCol w="1554480"/>
                <a:gridCol w="1645920"/>
                <a:gridCol w="3429000"/>
              </a:tblGrid>
              <a:tr h="859320">
                <a:tc>
                  <a:txBody>
                    <a:bodyPr anchor="t">
                      <a:noAutofit/>
                    </a:bodyPr>
                    <a:p>
                      <a:pPr defTabSz="457200">
                        <a:lnSpc>
                          <a:spcPct val="100000"/>
                        </a:lnSpc>
                      </a:pPr>
                      <a:r>
                        <a:rPr lang="en-US" sz="900" b="1" u="none" strike="noStrike">
                          <a:solidFill>
                            <a:srgbClr val="143769"/>
                          </a:solidFill>
                          <a:effectLst/>
                          <a:uFillTx/>
                          <a:latin typeface="Calibri"/>
                        </a:rPr>
                        <a:t>Member</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4FB"/>
                    </a:solidFill>
                  </a:tcPr>
                </a:tc>
                <a:tc>
                  <a:txBody>
                    <a:bodyPr anchor="t">
                      <a:noAutofit/>
                    </a:bodyPr>
                    <a:p>
                      <a:pPr defTabSz="457200">
                        <a:lnSpc>
                          <a:spcPct val="100000"/>
                        </a:lnSpc>
                      </a:pPr>
                      <a:r>
                        <a:rPr lang="en-US" sz="900" b="1" u="none" strike="noStrike">
                          <a:solidFill>
                            <a:srgbClr val="143769"/>
                          </a:solidFill>
                          <a:effectLst/>
                          <a:uFillTx/>
                          <a:latin typeface="Calibri"/>
                        </a:rPr>
                        <a:t>Role</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4FB"/>
                    </a:solidFill>
                  </a:tcPr>
                </a:tc>
                <a:tc>
                  <a:txBody>
                    <a:bodyPr anchor="t">
                      <a:noAutofit/>
                    </a:bodyPr>
                    <a:p>
                      <a:pPr defTabSz="457200">
                        <a:lnSpc>
                          <a:spcPct val="100000"/>
                        </a:lnSpc>
                      </a:pPr>
                      <a:r>
                        <a:rPr lang="en-US" sz="900" b="1" u="none" strike="noStrike">
                          <a:solidFill>
                            <a:srgbClr val="143769"/>
                          </a:solidFill>
                          <a:effectLst/>
                          <a:uFillTx/>
                          <a:latin typeface="Calibri"/>
                        </a:rPr>
                        <a:t>Contribution</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4FB"/>
                    </a:solidFill>
                  </a:tcPr>
                </a:tc>
              </a:tr>
              <a:tr h="859320">
                <a:tc>
                  <a:txBody>
                    <a:bodyPr anchor="t">
                      <a:noAutofit/>
                    </a:bodyPr>
                    <a:p>
                      <a:pPr defTabSz="457200">
                        <a:lnSpc>
                          <a:spcPct val="100000"/>
                        </a:lnSpc>
                      </a:pPr>
                      <a:r>
                        <a:rPr lang="en-US" sz="900" b="1" u="none" strike="noStrike">
                          <a:solidFill>
                            <a:srgbClr val="000000"/>
                          </a:solidFill>
                          <a:effectLst/>
                          <a:uFillTx/>
                          <a:latin typeface="Calibri"/>
                        </a:rPr>
                        <a:t>Ayush Dobhal</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900" b="0" u="none" strike="noStrike">
                          <a:solidFill>
                            <a:srgbClr val="000000"/>
                          </a:solidFill>
                          <a:effectLst/>
                          <a:uFillTx/>
                          <a:latin typeface="Calibri"/>
                        </a:rPr>
                        <a:t>Team Lead / Backend</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900" b="0" u="none" strike="noStrike">
                          <a:solidFill>
                            <a:srgbClr val="000000"/>
                          </a:solidFill>
                          <a:effectLst/>
                          <a:uFillTx/>
                          <a:latin typeface="Calibri"/>
                        </a:rPr>
                        <a:t>Overall project coordination, Java/Javalin backend, controllers, integration and core workflows.</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59320">
                <a:tc>
                  <a:txBody>
                    <a:bodyPr anchor="t">
                      <a:noAutofit/>
                    </a:bodyPr>
                    <a:p>
                      <a:pPr defTabSz="457200">
                        <a:lnSpc>
                          <a:spcPct val="100000"/>
                        </a:lnSpc>
                      </a:pPr>
                      <a:r>
                        <a:rPr lang="en-US" sz="900" b="1" u="none" strike="noStrike">
                          <a:solidFill>
                            <a:srgbClr val="000000"/>
                          </a:solidFill>
                          <a:effectLst/>
                          <a:uFillTx/>
                          <a:latin typeface="Calibri"/>
                        </a:rPr>
                        <a:t>Krish Rawat</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900" b="0" u="none" strike="noStrike">
                          <a:solidFill>
                            <a:srgbClr val="000000"/>
                          </a:solidFill>
                          <a:effectLst/>
                          <a:uFillTx/>
                          <a:latin typeface="Calibri"/>
                        </a:rPr>
                        <a:t>Documentation/Developer</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900" b="0" u="none" strike="noStrike">
                          <a:solidFill>
                            <a:srgbClr val="000000"/>
                          </a:solidFill>
                          <a:effectLst/>
                          <a:uFillTx/>
                          <a:latin typeface="Calibri"/>
                        </a:rPr>
                        <a:t>Feature Support , Documentation and Presentation work.</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59320">
                <a:tc>
                  <a:txBody>
                    <a:bodyPr anchor="t">
                      <a:noAutofit/>
                    </a:bodyPr>
                    <a:p>
                      <a:pPr defTabSz="457200">
                        <a:lnSpc>
                          <a:spcPct val="100000"/>
                        </a:lnSpc>
                      </a:pPr>
                      <a:r>
                        <a:rPr lang="en-US" sz="900" b="1" u="none" strike="noStrike">
                          <a:solidFill>
                            <a:srgbClr val="000000"/>
                          </a:solidFill>
                          <a:effectLst/>
                          <a:uFillTx/>
                          <a:latin typeface="Calibri"/>
                        </a:rPr>
                        <a:t>Divyansh Kharola</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900" b="0" u="none" strike="noStrike">
                          <a:solidFill>
                            <a:srgbClr val="000000"/>
                          </a:solidFill>
                          <a:effectLst/>
                          <a:uFillTx/>
                          <a:latin typeface="Calibri"/>
                        </a:rPr>
                        <a:t>Database / Backend</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900" b="0" u="none" strike="noStrike">
                          <a:solidFill>
                            <a:srgbClr val="000000"/>
                          </a:solidFill>
                          <a:effectLst/>
                          <a:uFillTx/>
                          <a:latin typeface="Calibri"/>
                        </a:rPr>
                        <a:t>Database work, data handling, testing and workflow verification.</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59320">
                <a:tc>
                  <a:txBody>
                    <a:bodyPr anchor="t">
                      <a:noAutofit/>
                    </a:bodyPr>
                    <a:p>
                      <a:pPr defTabSz="457200">
                        <a:lnSpc>
                          <a:spcPct val="100000"/>
                        </a:lnSpc>
                      </a:pPr>
                      <a:r>
                        <a:rPr lang="en-US" sz="900" b="1" u="none" strike="noStrike">
                          <a:solidFill>
                            <a:srgbClr val="000000"/>
                          </a:solidFill>
                          <a:effectLst/>
                          <a:uFillTx/>
                          <a:latin typeface="Calibri"/>
                        </a:rPr>
                        <a:t>Nitin Rawat</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900" b="0" u="none" strike="noStrike">
                          <a:solidFill>
                            <a:srgbClr val="000000"/>
                          </a:solidFill>
                          <a:effectLst/>
                          <a:uFillTx/>
                          <a:latin typeface="Calibri"/>
                        </a:rPr>
                        <a:t>Frontend Developer </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900" b="0" u="none" strike="noStrike">
                          <a:solidFill>
                            <a:srgbClr val="000000"/>
                          </a:solidFill>
                          <a:effectLst/>
                          <a:uFillTx/>
                          <a:latin typeface="Calibri"/>
                        </a:rPr>
                        <a:t>Frontend HTML , CSS and JS templates </a:t>
                      </a:r>
                      <a:endParaRPr lang="en-IN" sz="9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24" name="TextBox 5"/>
          <p:cNvSpPr/>
          <p:nvPr/>
        </p:nvSpPr>
        <p:spPr>
          <a:xfrm>
            <a:off x="320040" y="6510600"/>
            <a:ext cx="2993040" cy="1969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700" b="0" u="none" strike="noStrike">
                <a:solidFill>
                  <a:srgbClr val="5A5A5A"/>
                </a:solidFill>
                <a:effectLst/>
                <a:uFillTx/>
                <a:latin typeface="Calibri"/>
                <a:ea typeface="Microsoft YaHei"/>
              </a:rPr>
              <a:t>Department of </a:t>
            </a:r>
            <a:r>
              <a:rPr lang="en-US" sz="700" b="0" u="none" strike="noStrike">
                <a:solidFill>
                  <a:srgbClr val="5A5A5A"/>
                </a:solidFill>
                <a:effectLst/>
                <a:uFillTx/>
                <a:latin typeface="Calibri"/>
              </a:rPr>
              <a:t> Computer Application | Graphic Era (Deemed to be University)</a:t>
            </a:r>
            <a:endParaRPr lang="en-IN" sz="700" b="0" u="none" strike="noStrike">
              <a:solidFill>
                <a:srgbClr val="000000"/>
              </a:solidFill>
              <a:effectLst/>
              <a:uFillTx/>
              <a:latin typeface="Arial"/>
            </a:endParaRPr>
          </a:p>
        </p:txBody>
      </p:sp>
      <p:sp>
        <p:nvSpPr>
          <p:cNvPr id="125" name="TextBox 6"/>
          <p:cNvSpPr/>
          <p:nvPr/>
        </p:nvSpPr>
        <p:spPr>
          <a:xfrm>
            <a:off x="10652760" y="6510600"/>
            <a:ext cx="1096920" cy="20088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700" b="0" u="none" strike="noStrike">
                <a:solidFill>
                  <a:srgbClr val="5A5A5A"/>
                </a:solidFill>
                <a:effectLst/>
                <a:uFillTx/>
                <a:latin typeface="Calibri"/>
              </a:rPr>
              <a:t>9/10</a:t>
            </a:r>
            <a:endParaRPr lang="en-IN"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TextBox 1"/>
          <p:cNvSpPr/>
          <p:nvPr/>
        </p:nvSpPr>
        <p:spPr>
          <a:xfrm>
            <a:off x="411480" y="228600"/>
            <a:ext cx="10789560" cy="411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500" b="1" u="none" strike="noStrike">
                <a:solidFill>
                  <a:srgbClr val="143769"/>
                </a:solidFill>
                <a:effectLst/>
                <a:uFillTx/>
                <a:latin typeface="Calibri"/>
              </a:rPr>
              <a:t>Roadmap, Expected Outcomes &amp; References</a:t>
            </a:r>
            <a:endParaRPr lang="en-IN" sz="2500" b="0" u="none" strike="noStrike">
              <a:solidFill>
                <a:srgbClr val="000000"/>
              </a:solidFill>
              <a:effectLst/>
              <a:uFillTx/>
              <a:latin typeface="Arial"/>
            </a:endParaRPr>
          </a:p>
        </p:txBody>
      </p:sp>
      <p:sp>
        <p:nvSpPr>
          <p:cNvPr id="127" name="Rectangle 2"/>
          <p:cNvSpPr/>
          <p:nvPr/>
        </p:nvSpPr>
        <p:spPr>
          <a:xfrm>
            <a:off x="411480" y="722520"/>
            <a:ext cx="11292480" cy="1800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pPr/>
            <a:endParaRPr lang="en-US" sz="1800" b="0" u="none" strike="noStrike">
              <a:solidFill>
                <a:schemeClr val="lt1"/>
              </a:solidFill>
              <a:effectLst/>
              <a:uFillTx/>
              <a:latin typeface="Calibri"/>
            </a:endParaRPr>
          </a:p>
        </p:txBody>
      </p:sp>
      <p:sp>
        <p:nvSpPr>
          <p:cNvPr id="128" name="Rounded Rectangle 3"/>
          <p:cNvSpPr/>
          <p:nvPr/>
        </p:nvSpPr>
        <p:spPr>
          <a:xfrm>
            <a:off x="457200" y="914400"/>
            <a:ext cx="5303160" cy="233136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Roadmap</a:t>
            </a:r>
            <a:endParaRPr lang="en-IN" sz="13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Calibri"/>
              </a:rPr>
              <a:t>Phase-I: Proposal, requirements and architecture</a:t>
            </a:r>
            <a:br>
              <a:rPr sz="1100"/>
            </a:br>
            <a:r>
              <a:rPr lang="en-US" sz="1100" b="0" u="none" strike="noStrike">
                <a:solidFill>
                  <a:srgbClr val="000000"/>
                </a:solidFill>
                <a:effectLst/>
                <a:uFillTx/>
                <a:latin typeface="Calibri"/>
              </a:rPr>
              <a:t>Phase-II: Core development, database, authentication and major workflows</a:t>
            </a:r>
            <a:br>
              <a:rPr sz="1100"/>
            </a:br>
            <a:r>
              <a:rPr lang="en-US" sz="1100" b="0" u="none" strike="noStrike">
                <a:solidFill>
                  <a:srgbClr val="000000"/>
                </a:solidFill>
                <a:effectLst/>
                <a:uFillTx/>
                <a:latin typeface="Calibri"/>
              </a:rPr>
              <a:t>Phase-III: Testing, final implementation, documentation and presentation</a:t>
            </a:r>
            <a:endParaRPr lang="en-IN" sz="1100" b="0" u="none" strike="noStrike">
              <a:solidFill>
                <a:srgbClr val="000000"/>
              </a:solidFill>
              <a:effectLst/>
              <a:uFillTx/>
              <a:latin typeface="Arial"/>
            </a:endParaRPr>
          </a:p>
        </p:txBody>
      </p:sp>
      <p:sp>
        <p:nvSpPr>
          <p:cNvPr id="129" name="Rounded Rectangle 4"/>
          <p:cNvSpPr/>
          <p:nvPr/>
        </p:nvSpPr>
        <p:spPr>
          <a:xfrm>
            <a:off x="457200" y="3474720"/>
            <a:ext cx="5303160" cy="196560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Expected Outcomes</a:t>
            </a:r>
            <a:endParaRPr lang="en-IN" sz="13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Calibri"/>
              </a:rPr>
              <a:t>• Working college Lost &amp; Found web application</a:t>
            </a:r>
            <a:br>
              <a:rPr sz="1100"/>
            </a:br>
            <a:r>
              <a:rPr lang="en-US" sz="1100" b="0" u="none" strike="noStrike">
                <a:solidFill>
                  <a:srgbClr val="000000"/>
                </a:solidFill>
                <a:effectLst/>
                <a:uFillTx/>
                <a:latin typeface="Calibri"/>
              </a:rPr>
              <a:t>• Searchable and persistent item records</a:t>
            </a:r>
            <a:br>
              <a:rPr sz="1100"/>
            </a:br>
            <a:r>
              <a:rPr lang="en-US" sz="1100" b="0" u="none" strike="noStrike">
                <a:solidFill>
                  <a:srgbClr val="000000"/>
                </a:solidFill>
                <a:effectLst/>
                <a:uFillTx/>
                <a:latin typeface="Calibri"/>
              </a:rPr>
              <a:t>• Claim and administrator review workflow</a:t>
            </a:r>
            <a:br>
              <a:rPr sz="1100"/>
            </a:br>
            <a:r>
              <a:rPr lang="en-US" sz="1100" b="0" u="none" strike="noStrike">
                <a:solidFill>
                  <a:srgbClr val="000000"/>
                </a:solidFill>
                <a:effectLst/>
                <a:uFillTx/>
                <a:latin typeface="Calibri"/>
              </a:rPr>
              <a:t>• User dashboards and notifications</a:t>
            </a:r>
            <a:br>
              <a:rPr sz="1100"/>
            </a:br>
            <a:r>
              <a:rPr lang="en-US" sz="1100" b="0" u="none" strike="noStrike">
                <a:solidFill>
                  <a:srgbClr val="000000"/>
                </a:solidFill>
                <a:effectLst/>
                <a:uFillTx/>
                <a:latin typeface="Calibri"/>
              </a:rPr>
              <a:t>• Admin management and statistics</a:t>
            </a:r>
            <a:br>
              <a:rPr sz="1100"/>
            </a:br>
            <a:r>
              <a:rPr lang="en-US" sz="1100" b="0" u="none" strike="noStrike">
                <a:solidFill>
                  <a:srgbClr val="000000"/>
                </a:solidFill>
                <a:effectLst/>
                <a:uFillTx/>
                <a:latin typeface="Calibri"/>
              </a:rPr>
              <a:t>• Executable Maven JAR and maintainable layered code</a:t>
            </a:r>
            <a:endParaRPr lang="en-IN" sz="1100" b="0" u="none" strike="noStrike">
              <a:solidFill>
                <a:srgbClr val="000000"/>
              </a:solidFill>
              <a:effectLst/>
              <a:uFillTx/>
              <a:latin typeface="Arial"/>
            </a:endParaRPr>
          </a:p>
        </p:txBody>
      </p:sp>
      <p:sp>
        <p:nvSpPr>
          <p:cNvPr id="130" name="Rounded Rectangle 5"/>
          <p:cNvSpPr/>
          <p:nvPr/>
        </p:nvSpPr>
        <p:spPr>
          <a:xfrm>
            <a:off x="6080760" y="914400"/>
            <a:ext cx="5623200" cy="4525920"/>
          </a:xfrm>
          <a:prstGeom prst="roundRect">
            <a:avLst>
              <a:gd name="adj" fmla="val 16667"/>
            </a:avLst>
          </a:prstGeom>
          <a:solidFill>
            <a:srgbClr val="EEF4FB"/>
          </a:solidFill>
          <a:ln>
            <a:solidFill>
              <a:srgbClr val="1437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45000" rIns="109800" bIns="45000" anchor="ctr">
            <a:noAutofit/>
          </a:bodyPr>
          <a:p>
            <a:pPr algn="ctr" defTabSz="457200">
              <a:lnSpc>
                <a:spcPct val="100000"/>
              </a:lnSpc>
            </a:pPr>
            <a:r>
              <a:rPr lang="en-US" sz="1300" b="1" u="none" strike="noStrike">
                <a:solidFill>
                  <a:srgbClr val="143769"/>
                </a:solidFill>
                <a:effectLst/>
                <a:uFillTx/>
                <a:latin typeface="Calibri"/>
              </a:rPr>
              <a:t>References</a:t>
            </a:r>
            <a:endParaRPr lang="en-IN" sz="13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Calibri"/>
              </a:rPr>
              <a:t>1. Javalin Documentation [ javalin.io/documentation ]</a:t>
            </a:r>
            <a:br>
              <a:rPr sz="1100"/>
            </a:br>
            <a:r>
              <a:rPr lang="en-US" sz="1100" b="0" u="none" strike="noStrike">
                <a:solidFill>
                  <a:srgbClr val="000000"/>
                </a:solidFill>
                <a:effectLst/>
                <a:uFillTx/>
                <a:latin typeface="Calibri"/>
              </a:rPr>
              <a:t>2. SQLite Documentation [ sqlite.org/docs.html ]</a:t>
            </a:r>
            <a:br>
              <a:rPr sz="1100"/>
            </a:br>
            <a:r>
              <a:rPr lang="en-US" sz="1100" b="0" u="none" strike="noStrike">
                <a:solidFill>
                  <a:srgbClr val="000000"/>
                </a:solidFill>
                <a:effectLst/>
                <a:uFillTx/>
                <a:latin typeface="Calibri"/>
              </a:rPr>
              <a:t>3. Pebble Templates [ pebbletemplates.io ]</a:t>
            </a:r>
            <a:br>
              <a:rPr sz="1100"/>
            </a:br>
            <a:r>
              <a:rPr lang="en-US" sz="1100" b="0" u="none" strike="noStrike">
                <a:solidFill>
                  <a:srgbClr val="000000"/>
                </a:solidFill>
                <a:effectLst/>
                <a:uFillTx/>
                <a:latin typeface="Calibri"/>
              </a:rPr>
              <a:t>4. BCrypt Java Library  [ github.com/patrickfav/bcrypt ]</a:t>
            </a:r>
            <a:br>
              <a:rPr sz="1100"/>
            </a:br>
            <a:r>
              <a:rPr lang="en-US" sz="1100" b="0" u="none" strike="noStrike">
                <a:solidFill>
                  <a:srgbClr val="000000"/>
                </a:solidFill>
                <a:effectLst/>
                <a:uFillTx/>
                <a:latin typeface="Calibri"/>
              </a:rPr>
              <a:t>5. Jackson Databind  [ github.com/FasterXML/jackson-databind ]</a:t>
            </a:r>
            <a:br>
              <a:rPr sz="1100"/>
            </a:br>
            <a:r>
              <a:rPr lang="en-US" sz="1100" b="0" u="none" strike="noStrike">
                <a:solidFill>
                  <a:srgbClr val="000000"/>
                </a:solidFill>
                <a:effectLst/>
                <a:uFillTx/>
                <a:latin typeface="Calibri"/>
              </a:rPr>
              <a:t>6. Apache Maven [  maven.apache.org/guides/ ]</a:t>
            </a:r>
            <a:br>
              <a:rPr sz="1100"/>
            </a:br>
            <a:endParaRPr lang="en-IN" sz="1100" b="0" u="none" strike="noStrike">
              <a:solidFill>
                <a:srgbClr val="000000"/>
              </a:solidFill>
              <a:effectLst/>
              <a:uFillTx/>
              <a:latin typeface="Arial"/>
            </a:endParaRPr>
          </a:p>
        </p:txBody>
      </p:sp>
      <p:sp>
        <p:nvSpPr>
          <p:cNvPr id="131" name="TextBox 6"/>
          <p:cNvSpPr/>
          <p:nvPr/>
        </p:nvSpPr>
        <p:spPr>
          <a:xfrm>
            <a:off x="6217920" y="5650920"/>
            <a:ext cx="5303160" cy="456840"/>
          </a:xfrm>
          <a:prstGeom prst="rect">
            <a:avLst/>
          </a:prstGeom>
          <a:noFill/>
          <a:ln w="0">
            <a:noFill/>
          </a:ln>
        </p:spPr>
        <p:style>
          <a:lnRef idx="0"/>
          <a:fillRef idx="0"/>
          <a:effectRef idx="0"/>
          <a:fontRef idx="minor"/>
        </p:style>
        <p:txBody>
          <a:bodyPr wrap="none" lIns="90000" tIns="45000" rIns="90000" bIns="45000" anchor="t">
            <a:spAutoFit/>
          </a:bodyPr>
          <a:p>
            <a:pPr algn="ctr" defTabSz="457200">
              <a:lnSpc>
                <a:spcPct val="100000"/>
              </a:lnSpc>
            </a:pPr>
            <a:r>
              <a:rPr lang="en-US" sz="1600" b="1" u="none" strike="noStrike">
                <a:solidFill>
                  <a:srgbClr val="FFFFFF"/>
                </a:solidFill>
                <a:effectLst/>
                <a:uFillTx/>
                <a:latin typeface="Calibri"/>
              </a:rPr>
              <a:t>Thank You — Questions &amp; Suggestions</a:t>
            </a:r>
            <a:endParaRPr lang="en-IN" sz="1600" b="0" u="none" strike="noStrike">
              <a:solidFill>
                <a:srgbClr val="000000"/>
              </a:solidFill>
              <a:effectLst/>
              <a:uFillTx/>
              <a:latin typeface="Arial"/>
            </a:endParaRPr>
          </a:p>
        </p:txBody>
      </p:sp>
      <p:sp>
        <p:nvSpPr>
          <p:cNvPr id="132" name="Rectangle 7"/>
          <p:cNvSpPr/>
          <p:nvPr/>
        </p:nvSpPr>
        <p:spPr>
          <a:xfrm>
            <a:off x="6172200" y="5596200"/>
            <a:ext cx="5440320" cy="566640"/>
          </a:xfrm>
          <a:prstGeom prst="rect">
            <a:avLst/>
          </a:prstGeom>
          <a:solidFill>
            <a:srgbClr val="1437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3" name="TextBox 8"/>
          <p:cNvSpPr/>
          <p:nvPr/>
        </p:nvSpPr>
        <p:spPr>
          <a:xfrm>
            <a:off x="6217920" y="5650920"/>
            <a:ext cx="5303160" cy="365400"/>
          </a:xfrm>
          <a:prstGeom prst="rect">
            <a:avLst/>
          </a:prstGeom>
          <a:noFill/>
          <a:ln w="0">
            <a:noFill/>
          </a:ln>
        </p:spPr>
        <p:style>
          <a:lnRef idx="0"/>
          <a:fillRef idx="0"/>
          <a:effectRef idx="0"/>
          <a:fontRef idx="minor"/>
        </p:style>
        <p:txBody>
          <a:bodyPr wrap="none" lIns="90000" tIns="45000" rIns="90000" bIns="45000" anchor="t">
            <a:spAutoFit/>
          </a:bodyPr>
          <a:p>
            <a:pPr algn="ctr" defTabSz="457200">
              <a:lnSpc>
                <a:spcPct val="100000"/>
              </a:lnSpc>
            </a:pPr>
            <a:r>
              <a:rPr lang="en-US" sz="1500" b="1" u="none" strike="noStrike">
                <a:solidFill>
                  <a:srgbClr val="FFFFFF"/>
                </a:solidFill>
                <a:effectLst/>
                <a:uFillTx/>
                <a:latin typeface="Calibri"/>
              </a:rPr>
              <a:t>Thank You — Questions &amp; Suggestions</a:t>
            </a:r>
            <a:endParaRPr lang="en-IN" sz="1500" b="0" u="none" strike="noStrike">
              <a:solidFill>
                <a:srgbClr val="000000"/>
              </a:solidFill>
              <a:effectLst/>
              <a:uFillTx/>
              <a:latin typeface="Arial"/>
            </a:endParaRPr>
          </a:p>
        </p:txBody>
      </p:sp>
      <p:sp>
        <p:nvSpPr>
          <p:cNvPr id="134" name="TextBox 9"/>
          <p:cNvSpPr/>
          <p:nvPr/>
        </p:nvSpPr>
        <p:spPr>
          <a:xfrm>
            <a:off x="320040" y="6510600"/>
            <a:ext cx="2972520" cy="1969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700" b="0" u="none" strike="noStrike">
                <a:solidFill>
                  <a:srgbClr val="5A5A5A"/>
                </a:solidFill>
                <a:effectLst/>
                <a:uFillTx/>
                <a:latin typeface="Calibri"/>
              </a:rPr>
              <a:t>Department of Computer Application | Graphic Era (Deemed to be University)</a:t>
            </a:r>
            <a:endParaRPr lang="en-IN" sz="700" b="0" u="none" strike="noStrike">
              <a:solidFill>
                <a:srgbClr val="000000"/>
              </a:solidFill>
              <a:effectLst/>
              <a:uFillTx/>
              <a:latin typeface="Arial"/>
            </a:endParaRPr>
          </a:p>
        </p:txBody>
      </p:sp>
      <p:sp>
        <p:nvSpPr>
          <p:cNvPr id="135" name="TextBox 10"/>
          <p:cNvSpPr/>
          <p:nvPr/>
        </p:nvSpPr>
        <p:spPr>
          <a:xfrm>
            <a:off x="10652760" y="6510600"/>
            <a:ext cx="1096920" cy="20088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700" b="0" u="none" strike="noStrike">
                <a:solidFill>
                  <a:srgbClr val="5A5A5A"/>
                </a:solidFill>
                <a:effectLst/>
                <a:uFillTx/>
                <a:latin typeface="Calibri"/>
              </a:rPr>
              <a:t>10/10</a:t>
            </a:r>
            <a:endParaRPr lang="en-IN"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LibreOffice/26.8.0.3$Windows_X86_64 LibreOffice_project/bce0998afefdbc355585ca324285661a2170ba77</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2026-10-07T22:17:07Z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