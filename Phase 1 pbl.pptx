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9E3D7B6-D2F1-4C6C-9B63-CFC9280212DC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2520F3A-3128-49EF-8242-9934F2E9B53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C61816F-61C6-4073-B77F-8C1BD4434AE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2CB2F3F-2052-4892-B702-54D43969BBC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DC4834D-FB2D-4BF4-8C09-1AA4A3CDDC7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E4BC063-C57F-43EB-B2BD-EFE439A53E8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34E4149-0C55-4ED6-985B-3693EB2BBE2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CDB3C51-33D9-4B6F-9132-38A4BBD6B41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2C7F577-FC2F-4A4E-8DCC-E3274BA14BD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F70EB06-3DCF-46ED-900C-F9865F7F4C2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D4AFD52-E6B7-4D9C-AB25-E4E4C5E0154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DDA9B4C-1D68-4BCB-B924-C8B277D9AA2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1463040"/>
            <a:ext cx="5028840" cy="5028840"/>
          </a:xfrm>
          <a:prstGeom prst="ellipse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-548640"/>
            <a:ext cx="3291480" cy="329148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280160" y="4206240"/>
            <a:ext cx="3840120" cy="3840120"/>
          </a:xfrm>
          <a:prstGeom prst="ellipse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15087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B.C.A. PBL PROJECT •  RECLAIMX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94360" y="187452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RECLAIMX</a:t>
            </a:r>
            <a:endParaRPr lang="en-IN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30632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A Centralized Lost &amp; Found Recovery Platform for College Campuses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40080" y="3977640"/>
            <a:ext cx="10881000" cy="2651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52280" dir="5400000" dist="38160" rotWithShape="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7"/>
          <p:cNvSpPr/>
          <p:nvPr/>
        </p:nvSpPr>
        <p:spPr>
          <a:xfrm>
            <a:off x="960120" y="41605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TEAM ROOKIES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60120" y="45720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Ayush Dobhal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Team Lead  •  ID 24151104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080760" y="45720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Krish Rawat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Team Member  •  ID 24151182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960120" y="528516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Divyansh Kharola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Team Member  •  ID 24152165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080760" y="528516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Nitin Rawat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Team Member  •  ID 24151342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960120" y="6080760"/>
            <a:ext cx="9646920" cy="360"/>
          </a:xfrm>
          <a:prstGeom prst="line">
            <a:avLst/>
          </a:prstGeom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960120" y="62179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Mentor:  </a:t>
            </a: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Dr. Aditya Joshi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446520" y="62179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Graphic Era University  •  Dept. of Computer Applications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INTRODUCTION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What is RECLAIMX?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48640" y="1600200"/>
            <a:ext cx="5943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RECLAIMX is a centralized web platform that brings every campus Lost &amp; Found interaction into one searchable system. Instead of scattered class-group messages, notice boards and word of mouth, students report, discover and reclaim belongings through a single, structured, trackable workflow.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548640" y="3703320"/>
            <a:ext cx="5943240" cy="173700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4"/>
          <p:cNvSpPr/>
          <p:nvPr/>
        </p:nvSpPr>
        <p:spPr>
          <a:xfrm>
            <a:off x="822960" y="3886200"/>
            <a:ext cx="5394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Why it matters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Every semester, valuable items go permanently unclaimed simply because the finder and owner never had a common place to look.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5"/>
          <p:cNvSpPr/>
          <p:nvPr/>
        </p:nvSpPr>
        <p:spPr>
          <a:xfrm>
            <a:off x="6858000" y="1600200"/>
            <a:ext cx="4754520" cy="89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7040880" y="1774080"/>
            <a:ext cx="548280" cy="54828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7"/>
          <p:cNvSpPr/>
          <p:nvPr/>
        </p:nvSpPr>
        <p:spPr>
          <a:xfrm>
            <a:off x="7040880" y="17740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📝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7772400" y="1673280"/>
            <a:ext cx="370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Report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Log lost or found items with category, location and photos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6858000" y="2651760"/>
            <a:ext cx="4754520" cy="89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7040880" y="2825640"/>
            <a:ext cx="548280" cy="54828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040880" y="2825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🔍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772400" y="2724840"/>
            <a:ext cx="370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Search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Filter records by category, location or keyword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6858000" y="3703320"/>
            <a:ext cx="4754520" cy="89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7040880" y="3877200"/>
            <a:ext cx="548280" cy="54828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7040880" y="38772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🔄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7772400" y="3776400"/>
            <a:ext cx="370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Match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Surface likely matches between lost and found reports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6858000" y="4754880"/>
            <a:ext cx="4754520" cy="89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7040880" y="4928760"/>
            <a:ext cx="548280" cy="54828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7040880" y="49287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✅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7772400" y="4827960"/>
            <a:ext cx="3702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Claim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Manage and verify claims through to resolution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Lost items outrun today's tracking methods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48640" y="1691640"/>
            <a:ext cx="5211720" cy="16455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822960" y="1965960"/>
            <a:ext cx="639720" cy="639720"/>
          </a:xfrm>
          <a:prstGeom prst="ellipse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4"/>
          <p:cNvSpPr/>
          <p:nvPr/>
        </p:nvSpPr>
        <p:spPr>
          <a:xfrm>
            <a:off x="822960" y="19659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📢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691640" y="19202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Scattered channels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691640" y="231336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Reports live across WhatsApp groups, notice boards, security desks and word of mouth.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6126480" y="1691640"/>
            <a:ext cx="5211720" cy="16455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6400800" y="1965960"/>
            <a:ext cx="639720" cy="639720"/>
          </a:xfrm>
          <a:prstGeom prst="ellipse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400800" y="19659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🔎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7269480" y="19202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Hard to search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7269480" y="231336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Older reports are effectively lost the moment a chat scrolls or a notice is taken down.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548640" y="3566160"/>
            <a:ext cx="5211720" cy="16455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822960" y="3840480"/>
            <a:ext cx="639720" cy="639720"/>
          </a:xfrm>
          <a:prstGeom prst="ellipse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822960" y="38404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🤝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1691640" y="37947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No connection point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1691640" y="418788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Owners and finders rarely discover each other, even when both have posted.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6126480" y="3566160"/>
            <a:ext cx="5211720" cy="16455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Shape 18"/>
          <p:cNvSpPr/>
          <p:nvPr/>
        </p:nvSpPr>
        <p:spPr>
          <a:xfrm>
            <a:off x="6400800" y="3840480"/>
            <a:ext cx="639720" cy="639720"/>
          </a:xfrm>
          <a:prstGeom prst="ellipse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6400800" y="38404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📁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7269480" y="37947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No structured record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7269480" y="4187880"/>
            <a:ext cx="3885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Nothing tracks claims, ownership verification, or resolution status.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OBJECTIVES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Project Objectives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640080" y="173736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3"/>
          <p:cNvSpPr/>
          <p:nvPr/>
        </p:nvSpPr>
        <p:spPr>
          <a:xfrm>
            <a:off x="640080" y="1737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1371600" y="1691640"/>
            <a:ext cx="9875160" cy="86832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645920" y="1691640"/>
            <a:ext cx="9326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Develop a centralized Lost &amp; Found web platform for college students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640080" y="278892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40080" y="2788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1371600" y="2743200"/>
            <a:ext cx="9875160" cy="86832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9"/>
          <p:cNvSpPr/>
          <p:nvPr/>
        </p:nvSpPr>
        <p:spPr>
          <a:xfrm>
            <a:off x="1645920" y="2743200"/>
            <a:ext cx="9326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Enable structured lost/found reporting, search, matching and claim management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640080" y="384048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640080" y="3840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1371600" y="3794760"/>
            <a:ext cx="9875160" cy="86832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1645920" y="3794760"/>
            <a:ext cx="9326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Protect user accounts with secure password hashing and persistent data storage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4"/>
          <p:cNvSpPr/>
          <p:nvPr/>
        </p:nvSpPr>
        <p:spPr>
          <a:xfrm>
            <a:off x="640080" y="489204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640080" y="489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6"/>
          <p:cNvSpPr/>
          <p:nvPr/>
        </p:nvSpPr>
        <p:spPr>
          <a:xfrm>
            <a:off x="1371600" y="4846320"/>
            <a:ext cx="9875160" cy="86832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1645920" y="4846320"/>
            <a:ext cx="9326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Maintain a modular, layered backend that is easy to manage and extend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LITERATURE REVIEW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How campuses handle Lost &amp; Found today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548640" y="1691640"/>
            <a:ext cx="2559960" cy="237708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548640" y="1691640"/>
            <a:ext cx="2559960" cy="72720"/>
          </a:xfrm>
          <a:prstGeom prst="rect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4"/>
          <p:cNvSpPr/>
          <p:nvPr/>
        </p:nvSpPr>
        <p:spPr>
          <a:xfrm>
            <a:off x="731520" y="192024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WhatsApp / Class Groups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731520" y="260604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Fast to post, impossible to search once the chat scrolls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3337560" y="1691640"/>
            <a:ext cx="2559960" cy="237708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3337560" y="1691640"/>
            <a:ext cx="2559960" cy="72720"/>
          </a:xfrm>
          <a:prstGeom prst="rect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8"/>
          <p:cNvSpPr/>
          <p:nvPr/>
        </p:nvSpPr>
        <p:spPr>
          <a:xfrm>
            <a:off x="3520440" y="192024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Notice Boards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3520440" y="260604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Physical and location-bound; visible to a tiny slice of campus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6126480" y="1691640"/>
            <a:ext cx="2559960" cy="237708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6126480" y="1691640"/>
            <a:ext cx="2559960" cy="72720"/>
          </a:xfrm>
          <a:prstGeom prst="rect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6309360" y="192024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Security Desk Logs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6309360" y="260604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Manual paper or register entries with no cross-referencing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8915400" y="1691640"/>
            <a:ext cx="2559960" cy="237708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8915400" y="1691640"/>
            <a:ext cx="2559960" cy="72720"/>
          </a:xfrm>
          <a:prstGeom prst="rect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9098280" y="192024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Word of Mouth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9098280" y="260604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Entirely informal, unverifiable and easily lost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8"/>
          <p:cNvSpPr/>
          <p:nvPr/>
        </p:nvSpPr>
        <p:spPr>
          <a:xfrm>
            <a:off x="548640" y="4434840"/>
            <a:ext cx="10881000" cy="141696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19"/>
          <p:cNvSpPr/>
          <p:nvPr/>
        </p:nvSpPr>
        <p:spPr>
          <a:xfrm>
            <a:off x="868680" y="4590360"/>
            <a:ext cx="10240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The gap: </a:t>
            </a:r>
            <a:r>
              <a:rPr lang="en-US" sz="13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these channels are fragmented, difficult to search later, and provide little structured tracking of reports or claims. RECLAIMX converts this informal process into a centralized digital workflow with searchable records, persistent storage, possible-match discovery and claim management.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PROPOSED METHODOLOGY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Approach &amp; Development Milestones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548640" y="1691640"/>
            <a:ext cx="352008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777240" y="1920240"/>
            <a:ext cx="502560" cy="50256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77724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777240" y="256032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Design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777240" y="29718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Application structure, data models and SQLite schema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4023360" y="18288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4297680" y="1691640"/>
            <a:ext cx="352008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4526280" y="1920240"/>
            <a:ext cx="502560" cy="50256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452628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4526280" y="256032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Core Auth &amp; Reporting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4526280" y="29718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User registration, login and lost/found item reporting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7772400" y="18288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8046720" y="1691640"/>
            <a:ext cx="352008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8275320" y="1920240"/>
            <a:ext cx="502560" cy="50256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8275320" y="1920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8275320" y="256032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Search &amp; Matching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8275320" y="29718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Categories, locations, search and the claim workflow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548640" y="4023360"/>
            <a:ext cx="352008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777240" y="4251960"/>
            <a:ext cx="502560" cy="50256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777240" y="4251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777240" y="489204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Dashboard &amp; Alerts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777240" y="530352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User dashboard, notifications and file/image uploads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4023360" y="416052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4297680" y="4023360"/>
            <a:ext cx="352008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Shape 26"/>
          <p:cNvSpPr/>
          <p:nvPr/>
        </p:nvSpPr>
        <p:spPr>
          <a:xfrm>
            <a:off x="4526280" y="4251960"/>
            <a:ext cx="502560" cy="50256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 27"/>
          <p:cNvSpPr/>
          <p:nvPr/>
        </p:nvSpPr>
        <p:spPr>
          <a:xfrm>
            <a:off x="4526280" y="4251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8"/>
          <p:cNvSpPr/>
          <p:nvPr/>
        </p:nvSpPr>
        <p:spPr>
          <a:xfrm>
            <a:off x="4526280" y="489204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Integration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4526280" y="530352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Pebble rendering, JSON processing, logging and DB access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7772400" y="416052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1"/>
          <p:cNvSpPr/>
          <p:nvPr/>
        </p:nvSpPr>
        <p:spPr>
          <a:xfrm>
            <a:off x="8046720" y="4023360"/>
            <a:ext cx="352008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Shape 32"/>
          <p:cNvSpPr/>
          <p:nvPr/>
        </p:nvSpPr>
        <p:spPr>
          <a:xfrm>
            <a:off x="8275320" y="4251960"/>
            <a:ext cx="502560" cy="50256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 33"/>
          <p:cNvSpPr/>
          <p:nvPr/>
        </p:nvSpPr>
        <p:spPr>
          <a:xfrm>
            <a:off x="8275320" y="4251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4"/>
          <p:cNvSpPr/>
          <p:nvPr/>
        </p:nvSpPr>
        <p:spPr>
          <a:xfrm>
            <a:off x="8275320" y="489204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Test &amp; Package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5"/>
          <p:cNvSpPr/>
          <p:nvPr/>
        </p:nvSpPr>
        <p:spPr>
          <a:xfrm>
            <a:off x="8275320" y="530352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Validate major workflows; ship as an executable JAR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6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TOOLS &amp; TECHNOLOGIES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Technology Stack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548640" y="169164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804600" y="194760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1097280" y="18561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Java 21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822960" y="231336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Core backend language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4251960" y="169164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4507920" y="194760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4800600" y="18561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Javalin 6.3.0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4526280" y="231336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Lightweight web framework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7955280" y="169164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8211240" y="194760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8503920" y="185616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Apache Maven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8229600" y="231336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Build &amp; JAR packaging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548640" y="310896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Shape 15"/>
          <p:cNvSpPr/>
          <p:nvPr/>
        </p:nvSpPr>
        <p:spPr>
          <a:xfrm>
            <a:off x="804600" y="336492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1097280" y="327348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HTML / CSS / JS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822960" y="37306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Browser front-end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4251960" y="310896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Shape 19"/>
          <p:cNvSpPr/>
          <p:nvPr/>
        </p:nvSpPr>
        <p:spPr>
          <a:xfrm>
            <a:off x="4507920" y="336492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4800600" y="327348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Pebble 3.2.2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4526280" y="37306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Server-side templating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2"/>
          <p:cNvSpPr/>
          <p:nvPr/>
        </p:nvSpPr>
        <p:spPr>
          <a:xfrm>
            <a:off x="7955280" y="310896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Shape 23"/>
          <p:cNvSpPr/>
          <p:nvPr/>
        </p:nvSpPr>
        <p:spPr>
          <a:xfrm>
            <a:off x="8211240" y="336492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8503920" y="327348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SQLite 3.46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8229600" y="373068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Persistent database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6"/>
          <p:cNvSpPr/>
          <p:nvPr/>
        </p:nvSpPr>
        <p:spPr>
          <a:xfrm>
            <a:off x="548640" y="452628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Shape 27"/>
          <p:cNvSpPr/>
          <p:nvPr/>
        </p:nvSpPr>
        <p:spPr>
          <a:xfrm>
            <a:off x="804600" y="478224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28"/>
          <p:cNvSpPr/>
          <p:nvPr/>
        </p:nvSpPr>
        <p:spPr>
          <a:xfrm>
            <a:off x="1097280" y="469080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BCrypt 0.10.2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9"/>
          <p:cNvSpPr/>
          <p:nvPr/>
        </p:nvSpPr>
        <p:spPr>
          <a:xfrm>
            <a:off x="822960" y="514800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Password hashing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0"/>
          <p:cNvSpPr/>
          <p:nvPr/>
        </p:nvSpPr>
        <p:spPr>
          <a:xfrm>
            <a:off x="4251960" y="452628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Shape 31"/>
          <p:cNvSpPr/>
          <p:nvPr/>
        </p:nvSpPr>
        <p:spPr>
          <a:xfrm>
            <a:off x="4507920" y="478224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32"/>
          <p:cNvSpPr/>
          <p:nvPr/>
        </p:nvSpPr>
        <p:spPr>
          <a:xfrm>
            <a:off x="4800600" y="469080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Jackson 2.17.2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3"/>
          <p:cNvSpPr/>
          <p:nvPr/>
        </p:nvSpPr>
        <p:spPr>
          <a:xfrm>
            <a:off x="4526280" y="514800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JSON processing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4"/>
          <p:cNvSpPr/>
          <p:nvPr/>
        </p:nvSpPr>
        <p:spPr>
          <a:xfrm>
            <a:off x="7955280" y="4526280"/>
            <a:ext cx="3474360" cy="123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Shape 35"/>
          <p:cNvSpPr/>
          <p:nvPr/>
        </p:nvSpPr>
        <p:spPr>
          <a:xfrm>
            <a:off x="8211240" y="478224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 36"/>
          <p:cNvSpPr/>
          <p:nvPr/>
        </p:nvSpPr>
        <p:spPr>
          <a:xfrm>
            <a:off x="8503920" y="469080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SLF4J Simple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7"/>
          <p:cNvSpPr/>
          <p:nvPr/>
        </p:nvSpPr>
        <p:spPr>
          <a:xfrm>
            <a:off x="8229600" y="5148000"/>
            <a:ext cx="3062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Application logging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8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SYSTEM ARCHITECTURE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High-Level System Architecture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1737360" y="1691640"/>
            <a:ext cx="5943240" cy="749520"/>
          </a:xfrm>
          <a:prstGeom prst="rect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1965960" y="16916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Presentation Layer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1965960" y="16916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Browser UI  •  HTML / CSS / JS  •  Pebble Templates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4526280" y="24231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1737360" y="2606040"/>
            <a:ext cx="5943240" cy="74952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1965960" y="26060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Controller Layer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1965960" y="26060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Javalin routes &amp; request handling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4526280" y="33375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1737360" y="3520440"/>
            <a:ext cx="5943240" cy="749520"/>
          </a:xfrm>
          <a:prstGeom prst="rect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1965960" y="35204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Service Layer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1965960" y="35204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Business logic  •  Matching &amp; claim rules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4526280" y="42519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1737360" y="4434840"/>
            <a:ext cx="5943240" cy="74952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1965960" y="44348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DAO / Data Access Layer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1965960" y="44348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SQLite JDBC data operations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4526280" y="51663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1737360" y="5349240"/>
            <a:ext cx="5943240" cy="74952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1965960" y="53492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Database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1965960" y="5349240"/>
            <a:ext cx="5486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SQLite persistent storage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8138160" y="1691640"/>
            <a:ext cx="3291480" cy="440712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8366760" y="18288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Cross-Cutting Modules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3"/>
          <p:cNvSpPr/>
          <p:nvPr/>
        </p:nvSpPr>
        <p:spPr>
          <a:xfrm>
            <a:off x="8366760" y="2194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 Config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8366760" y="25786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 Util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5"/>
          <p:cNvSpPr/>
          <p:nvPr/>
        </p:nvSpPr>
        <p:spPr>
          <a:xfrm>
            <a:off x="8366760" y="29628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 Resources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8366760" y="3346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 BCrypt (security)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7"/>
          <p:cNvSpPr/>
          <p:nvPr/>
        </p:nvSpPr>
        <p:spPr>
          <a:xfrm>
            <a:off x="8366760" y="37306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 Jackson (JSON)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8366760" y="41148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 SLF4J (logging)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9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EXPECTED OUTCOMES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Deliverables at Completion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548640" y="1737360"/>
            <a:ext cx="5211720" cy="12340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Shape 3"/>
          <p:cNvSpPr/>
          <p:nvPr/>
        </p:nvSpPr>
        <p:spPr>
          <a:xfrm>
            <a:off x="777240" y="206640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777240" y="2066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1463040" y="184716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Functional Lost &amp; Found platform with user registration and login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6126480" y="1737360"/>
            <a:ext cx="5211720" cy="12340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6355080" y="206640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6355080" y="2066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7040880" y="184716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Lost/found reporting with categories, locations, search and SQLite persistence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548640" y="3154680"/>
            <a:ext cx="5211720" cy="12340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777240" y="348372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 12"/>
          <p:cNvSpPr/>
          <p:nvPr/>
        </p:nvSpPr>
        <p:spPr>
          <a:xfrm>
            <a:off x="777240" y="3483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1463040" y="326448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Matching and claim management between lost and found reports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4"/>
          <p:cNvSpPr/>
          <p:nvPr/>
        </p:nvSpPr>
        <p:spPr>
          <a:xfrm>
            <a:off x="6126480" y="3154680"/>
            <a:ext cx="5211720" cy="12340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6355080" y="348372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6355080" y="3483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7040880" y="326448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User dashboard and notifications for activity and platform events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8"/>
          <p:cNvSpPr/>
          <p:nvPr/>
        </p:nvSpPr>
        <p:spPr>
          <a:xfrm>
            <a:off x="548640" y="4572000"/>
            <a:ext cx="5211720" cy="12340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777240" y="490104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20"/>
          <p:cNvSpPr/>
          <p:nvPr/>
        </p:nvSpPr>
        <p:spPr>
          <a:xfrm>
            <a:off x="777240" y="4901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1463040" y="468180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File/image uploads to support item identification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2"/>
          <p:cNvSpPr/>
          <p:nvPr/>
        </p:nvSpPr>
        <p:spPr>
          <a:xfrm>
            <a:off x="6126480" y="4572000"/>
            <a:ext cx="5211720" cy="12340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Shape 23"/>
          <p:cNvSpPr/>
          <p:nvPr/>
        </p:nvSpPr>
        <p:spPr>
          <a:xfrm>
            <a:off x="6355080" y="4901040"/>
            <a:ext cx="502560" cy="50256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 24"/>
          <p:cNvSpPr/>
          <p:nvPr/>
        </p:nvSpPr>
        <p:spPr>
          <a:xfrm>
            <a:off x="6355080" y="4901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5"/>
          <p:cNvSpPr/>
          <p:nvPr/>
        </p:nvSpPr>
        <p:spPr>
          <a:xfrm>
            <a:off x="7040880" y="468180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Layered Java/Javalin backend with Pebble, BCrypt, Jackson and Maven packaging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6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FUTURE SCOPE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Where RECLAIMX Can Go Next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"/>
          <p:cNvSpPr/>
          <p:nvPr/>
        </p:nvSpPr>
        <p:spPr>
          <a:xfrm>
            <a:off x="548640" y="1691640"/>
            <a:ext cx="347436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777240" y="1920240"/>
            <a:ext cx="594000" cy="59400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777240" y="19202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☁️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777240" y="260604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Production Hosting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777240" y="30175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Move from local packaging to a hosted, always-on deployment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4251960" y="1691640"/>
            <a:ext cx="347436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4480560" y="1920240"/>
            <a:ext cx="594000" cy="59400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4480560" y="19202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✉️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4480560" y="260604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Email / SMS Alerts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4480560" y="30175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Integrate external notification services for real-time claim updates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7955280" y="1691640"/>
            <a:ext cx="347436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8183880" y="1920240"/>
            <a:ext cx="594000" cy="59400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8183880" y="19202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📱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5"/>
          <p:cNvSpPr/>
          <p:nvPr/>
        </p:nvSpPr>
        <p:spPr>
          <a:xfrm>
            <a:off x="8183880" y="260604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Mobile Application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6"/>
          <p:cNvSpPr/>
          <p:nvPr/>
        </p:nvSpPr>
        <p:spPr>
          <a:xfrm>
            <a:off x="8183880" y="30175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Companion Android/iOS app for on-the-go reporting and alerts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7"/>
          <p:cNvSpPr/>
          <p:nvPr/>
        </p:nvSpPr>
        <p:spPr>
          <a:xfrm>
            <a:off x="548640" y="4023360"/>
            <a:ext cx="347436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777240" y="4251960"/>
            <a:ext cx="594000" cy="59400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 19"/>
          <p:cNvSpPr/>
          <p:nvPr/>
        </p:nvSpPr>
        <p:spPr>
          <a:xfrm>
            <a:off x="777240" y="42519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🤖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0"/>
          <p:cNvSpPr/>
          <p:nvPr/>
        </p:nvSpPr>
        <p:spPr>
          <a:xfrm>
            <a:off x="777240" y="49377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AI-Based Image Matching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1"/>
          <p:cNvSpPr/>
          <p:nvPr/>
        </p:nvSpPr>
        <p:spPr>
          <a:xfrm>
            <a:off x="777240" y="534924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Automatic visual similarity matching between lost and found photos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2"/>
          <p:cNvSpPr/>
          <p:nvPr/>
        </p:nvSpPr>
        <p:spPr>
          <a:xfrm>
            <a:off x="4251960" y="4023360"/>
            <a:ext cx="347436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4480560" y="4251960"/>
            <a:ext cx="594000" cy="59400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 24"/>
          <p:cNvSpPr/>
          <p:nvPr/>
        </p:nvSpPr>
        <p:spPr>
          <a:xfrm>
            <a:off x="4480560" y="42519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🏷️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5"/>
          <p:cNvSpPr/>
          <p:nvPr/>
        </p:nvSpPr>
        <p:spPr>
          <a:xfrm>
            <a:off x="4480560" y="49377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QR Tagging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6"/>
          <p:cNvSpPr/>
          <p:nvPr/>
        </p:nvSpPr>
        <p:spPr>
          <a:xfrm>
            <a:off x="4480560" y="534924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QR-code tags for high-value items to speed up identification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7"/>
          <p:cNvSpPr/>
          <p:nvPr/>
        </p:nvSpPr>
        <p:spPr>
          <a:xfrm>
            <a:off x="7955280" y="4023360"/>
            <a:ext cx="3474360" cy="2102760"/>
          </a:xfrm>
          <a:prstGeom prst="rect">
            <a:avLst/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Shape 28"/>
          <p:cNvSpPr/>
          <p:nvPr/>
        </p:nvSpPr>
        <p:spPr>
          <a:xfrm>
            <a:off x="8183880" y="4251960"/>
            <a:ext cx="594000" cy="594000"/>
          </a:xfrm>
          <a:prstGeom prst="ellipse">
            <a:avLst/>
          </a:pr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 29"/>
          <p:cNvSpPr/>
          <p:nvPr/>
        </p:nvSpPr>
        <p:spPr>
          <a:xfrm>
            <a:off x="8183880" y="42519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📊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0"/>
          <p:cNvSpPr/>
          <p:nvPr/>
        </p:nvSpPr>
        <p:spPr>
          <a:xfrm>
            <a:off x="8183880" y="49377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Cambria"/>
                <a:ea typeface="Cambria"/>
              </a:rPr>
              <a:t>Admin Analytics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1"/>
          <p:cNvSpPr/>
          <p:nvPr/>
        </p:nvSpPr>
        <p:spPr>
          <a:xfrm>
            <a:off x="8183880" y="534924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Campus-wide dashboard on recovery rates and hotspot locations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2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0"/>
          <p:cNvSpPr/>
          <p:nvPr/>
        </p:nvSpPr>
        <p:spPr>
          <a:xfrm>
            <a:off x="548640" y="4114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548640" y="6858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References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"/>
          <p:cNvSpPr/>
          <p:nvPr/>
        </p:nvSpPr>
        <p:spPr>
          <a:xfrm>
            <a:off x="640080" y="204840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1005840" y="178308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Java 21, Javalin 6.3.0 and Apache Maven documentation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640080" y="282564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1005840" y="256032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SQLite 3.46.0.0 and SQLite JDBC documentation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6"/>
          <p:cNvSpPr/>
          <p:nvPr/>
        </p:nvSpPr>
        <p:spPr>
          <a:xfrm>
            <a:off x="640080" y="360288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1005840" y="333756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Pebble 3.2.2 and Javalin Rendering documentation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8"/>
          <p:cNvSpPr/>
          <p:nvPr/>
        </p:nvSpPr>
        <p:spPr>
          <a:xfrm>
            <a:off x="640080" y="438012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 9"/>
          <p:cNvSpPr/>
          <p:nvPr/>
        </p:nvSpPr>
        <p:spPr>
          <a:xfrm>
            <a:off x="1005840" y="411480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BCrypt 0.10.2 and Jackson Databind 2.17.2 documentation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0"/>
          <p:cNvSpPr/>
          <p:nvPr/>
        </p:nvSpPr>
        <p:spPr>
          <a:xfrm>
            <a:off x="640080" y="5157360"/>
            <a:ext cx="145800" cy="145800"/>
          </a:xfrm>
          <a:prstGeom prst="ellipse">
            <a:avLst/>
          </a:pr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1005840" y="489204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3F4F6"/>
                </a:solidFill>
                <a:effectLst/>
                <a:uFillTx/>
                <a:latin typeface="Calibri"/>
                <a:ea typeface="Calibri"/>
              </a:rPr>
              <a:t>SLF4J Simple 2.0.13, HTML, CSS and JavaScript documentation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1147572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  <Words>860</Words>
  <Paragraphs>186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2026-09-11T08:15:28Z</dcterms:created>
  <dc:creator>PptxGenJS</dc:creator>
  <dc:description/>
  <dc:language>en-IN</dc:language>
  <cp:lastModifiedBy/>
  <dcterms:modified xsi:type="dcterms:W3CDTF">2026-09-11T19:11:47Z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11</vt:i4>
  </property>
</Properties>
</file>